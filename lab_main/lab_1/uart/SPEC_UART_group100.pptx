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82" r:id="rId5"/>
    <p:sldId id="276" r:id="rId6"/>
    <p:sldId id="298" r:id="rId7"/>
    <p:sldId id="283" r:id="rId8"/>
    <p:sldId id="277" r:id="rId9"/>
    <p:sldId id="294" r:id="rId10"/>
    <p:sldId id="288" r:id="rId11"/>
    <p:sldId id="289" r:id="rId12"/>
    <p:sldId id="290" r:id="rId13"/>
    <p:sldId id="291" r:id="rId14"/>
    <p:sldId id="293" r:id="rId15"/>
    <p:sldId id="302" r:id="rId16"/>
    <p:sldId id="303" r:id="rId17"/>
    <p:sldId id="296" r:id="rId18"/>
    <p:sldId id="299" r:id="rId19"/>
    <p:sldId id="297" r:id="rId20"/>
    <p:sldId id="300" r:id="rId21"/>
    <p:sldId id="275" r:id="rId22"/>
    <p:sldId id="301" r:id="rId23"/>
  </p:sldIdLst>
  <p:sldSz cx="9144000" cy="6858000" type="screen4x3"/>
  <p:notesSz cx="7102475" cy="89916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25B3B8-F2EF-6911-EDA8-E6CEF5AEF80F}" name="Vu Thanh Loc 20223793" initials="V2" userId="S::loc.vt223793@sis.hust.edu.vn::9f08ef11-8e9c-4789-8df6-f086634094fd" providerId="AD"/>
  <p188:author id="{A336FEF1-665D-A0F0-4AE3-C1B1F4A9A9D4}" name="Dang Cong Bach 20223869" initials="D2" userId="S::bach.dc223869@sis.hust.edu.vn::c7803678-e334-4632-8c6e-0b4d488e447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C0C"/>
    <a:srgbClr val="5F5F5F"/>
    <a:srgbClr val="D1DBEB"/>
    <a:srgbClr val="84A5CA"/>
    <a:srgbClr val="AAC1DA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0E775-E4FF-8945-D626-1E1D56196789}" v="5" dt="2025-11-07T14:48:12.084"/>
    <p1510:client id="{2B4545CC-6E73-2D55-678D-8C9307811A62}" v="61" dt="2025-11-08T05:05:14.686"/>
    <p1510:client id="{387F0B89-0AC0-BA56-1F84-7663BA8A9AD6}" v="2177" dt="2025-11-08T02:31:26.306"/>
    <p1510:client id="{43DADCAE-CDFC-F410-0E6D-67E3895F2AC4}" v="168" dt="2025-11-08T06:11:29.894"/>
    <p1510:client id="{59A28607-DDC7-7DBE-7623-41131FE49CDD}" v="1316" dt="2025-11-08T02:08:09.019"/>
    <p1510:client id="{78305281-9181-76F5-FEA5-B850D60D86AF}" v="1103" dt="2025-11-07T16:13:19.351"/>
    <p1510:client id="{7A6DB77F-68B2-92A0-B143-AA48DDF0D5EE}" v="3" dt="2025-11-08T06:04:43.582"/>
    <p1510:client id="{7D650B54-BE15-C8CA-6B63-5776808FCACA}" v="196" dt="2025-11-08T02:47:37.836"/>
    <p1510:client id="{AC2A0CBD-4BC1-C99F-0B24-43F58AEAE43A}" v="173" dt="2025-11-08T06:07:06.228"/>
    <p1510:client id="{B429EA11-7694-A8E2-0A49-E60A3A254C9A}" v="3336" dt="2025-11-07T11:11:46.138"/>
    <p1510:client id="{D3235D8A-230E-591E-0B18-C1EBF526D621}" v="679" dt="2025-11-07T16:46:51.962"/>
    <p1510:client id="{D3BA2A01-3EAC-324D-BE9E-1C134AFF085A}" v="9" dt="2025-11-07T16:26:11.074"/>
    <p1510:client id="{D8987B40-1DEF-33C5-D964-85B2D03E574C}" v="31" dt="2025-11-08T07:34:17.900"/>
    <p1510:client id="{DADB249E-C5CC-583F-38FA-A65778C42576}" v="157" dt="2025-11-08T04:37:31.615"/>
    <p1510:client id="{F9AAE3A6-C4B4-54C5-361A-53476B00D9E3}" v="189" dt="2025-11-07T14:47:21.221"/>
    <p1510:client id="{FA6E359D-7744-5939-20D1-B0F08FE8A2C1}" v="376" dt="2025-11-07T12:38:17.744"/>
    <p1510:client id="{FC41B39B-A081-78FE-CF3B-CCC706B42E6E}" v="1" dt="2025-11-07T15:05:57.9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540750"/>
            <a:ext cx="3078163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8540750"/>
            <a:ext cx="3078163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7B1B536-987D-4EB1-B50E-F03235BA96A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427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492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492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36164-C438-4E88-8389-E19378EC1E9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03338" y="674688"/>
            <a:ext cx="4495800" cy="3371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270375"/>
            <a:ext cx="5683250" cy="4046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40750"/>
            <a:ext cx="3078163" cy="4492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540750"/>
            <a:ext cx="3078163" cy="4492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D353C-1474-4445-AC7A-4096A45E2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144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(Object Detection, YOLO-Tinyv3/4)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1D353C-1474-4445-AC7A-4096A45E2EC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10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Cố gắng định lượng hóa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D353C-1474-4445-AC7A-4096A45E2E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25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9F9D2-85CA-A6E6-0D27-5164C4AA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645D8-EA9B-1B52-5D3C-942DFFADA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EB2C1-7847-17F1-3591-45D8B0F53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Cố gắng định lượng hóa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55670-89D6-2D2C-52C3-C9AB9814CD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D353C-1474-4445-AC7A-4096A45E2E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12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6B51B-6493-C535-349C-43487E6A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80896-4D29-4AEB-1679-A8B8A0720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9941E-A90E-91E2-54E9-0E30B2518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Cố gắng định lượng hóa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C1AE8-CC48-BB77-C968-B5F68EFCE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D353C-1474-4445-AC7A-4096A45E2E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50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12595-1715-5BCE-3C7B-4B5BB55A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94C95-FD4C-4FBB-0B53-EBD901FE4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A8BD7-34FA-39F4-0294-DA28485C8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Cố gắng định lượng hóa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717A8-DB9E-9382-AA0E-2A08AE0B6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D353C-1474-4445-AC7A-4096A45E2E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93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FF3B-163A-35D2-F754-7376FF71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C5EE6-3525-550C-F697-A8458F3B1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36D9A-2015-6C00-6915-363847418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Cố gắng định lượng hóa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A007A-E115-C784-7727-C81DAC676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D353C-1474-4445-AC7A-4096A45E2EC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3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2D1C-DE47-18AD-C96E-C61BFE595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5DB5F-EBF7-FBBA-0DE1-CC83F91DB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78F94-2BFF-3426-4800-8A6C3F487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Cố gắng định lượng hóa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7724C-85EC-84C4-EFF2-692FB07F9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D353C-1474-4445-AC7A-4096A45E2E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420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7D1B8-2213-A34D-A8F4-074E40EE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36685-0BD0-9B1B-F258-CCD45E3E9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CABD0-EFE3-99CD-DC62-8744884EE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Cố gắng định lượng hóa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2366C-7B7E-87D5-9A55-CDE2F0E68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D353C-1474-4445-AC7A-4096A45E2E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75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E0B1-E6A4-249F-107C-1658D67A5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DFFB0-4D27-EA58-280F-B3FF6F84A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FCC61-9C2E-4343-77C7-59C0FE1FA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Cố gắng định lượng hóa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5DD31-7ACD-545D-9719-605FC6F85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D353C-1474-4445-AC7A-4096A45E2EC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991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0F72D-D77F-4BEB-3016-214CD168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F5276-A93A-258A-B479-B541D31C0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922A4-F78C-D08C-6379-D927CE87F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Cố gắng định lượng hóa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DD0EA-DCF0-1E1B-0AE9-B64F96999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D353C-1474-4445-AC7A-4096A45E2EC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05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1" name="Group 29"/>
          <p:cNvGrpSpPr>
            <a:grpSpLocks/>
          </p:cNvGrpSpPr>
          <p:nvPr/>
        </p:nvGrpSpPr>
        <p:grpSpPr bwMode="auto"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3090" name="Rectangle 18"/>
            <p:cNvSpPr>
              <a:spLocks noChangeArrowheads="1"/>
            </p:cNvSpPr>
            <p:nvPr userDrawn="1"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0" name="Rectangle 28"/>
            <p:cNvSpPr>
              <a:spLocks noChangeArrowheads="1"/>
            </p:cNvSpPr>
            <p:nvPr userDrawn="1"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1" name="Rectangle 19"/>
          <p:cNvSpPr>
            <a:spLocks noChangeArrowheads="1"/>
          </p:cNvSpPr>
          <p:nvPr/>
        </p:nvSpPr>
        <p:spPr bwMode="gray">
          <a:xfrm>
            <a:off x="573088" y="2520950"/>
            <a:ext cx="576262" cy="6413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2" name="Rectangle 20"/>
          <p:cNvSpPr>
            <a:spLocks noChangeArrowheads="1"/>
          </p:cNvSpPr>
          <p:nvPr/>
        </p:nvSpPr>
        <p:spPr bwMode="gray">
          <a:xfrm>
            <a:off x="1716088" y="628650"/>
            <a:ext cx="566737" cy="6365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3" name="Rectangle 21"/>
          <p:cNvSpPr>
            <a:spLocks noChangeArrowheads="1"/>
          </p:cNvSpPr>
          <p:nvPr/>
        </p:nvSpPr>
        <p:spPr bwMode="gray">
          <a:xfrm>
            <a:off x="2278063" y="0"/>
            <a:ext cx="585787" cy="6350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4" name="Rectangle 22"/>
          <p:cNvSpPr>
            <a:spLocks noChangeArrowheads="1"/>
          </p:cNvSpPr>
          <p:nvPr/>
        </p:nvSpPr>
        <p:spPr bwMode="gray">
          <a:xfrm>
            <a:off x="2281238" y="628650"/>
            <a:ext cx="585787" cy="6318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5" name="Rectangle 23"/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6" name="Rectangle 24"/>
          <p:cNvSpPr>
            <a:spLocks noChangeArrowheads="1"/>
          </p:cNvSpPr>
          <p:nvPr/>
        </p:nvSpPr>
        <p:spPr bwMode="gray">
          <a:xfrm>
            <a:off x="1716088" y="1263650"/>
            <a:ext cx="566737" cy="6223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7" name="Rectangle 25"/>
          <p:cNvSpPr>
            <a:spLocks noChangeArrowheads="1"/>
          </p:cNvSpPr>
          <p:nvPr/>
        </p:nvSpPr>
        <p:spPr bwMode="gray">
          <a:xfrm>
            <a:off x="573088" y="1885950"/>
            <a:ext cx="576262" cy="644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8" name="Rectangle 26"/>
          <p:cNvSpPr>
            <a:spLocks noChangeArrowheads="1"/>
          </p:cNvSpPr>
          <p:nvPr/>
        </p:nvSpPr>
        <p:spPr bwMode="gray">
          <a:xfrm>
            <a:off x="1141413" y="1885950"/>
            <a:ext cx="576262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9" name="Rectangle 27"/>
          <p:cNvSpPr>
            <a:spLocks noChangeArrowheads="1"/>
          </p:cNvSpPr>
          <p:nvPr/>
        </p:nvSpPr>
        <p:spPr bwMode="gray">
          <a:xfrm>
            <a:off x="0" y="2528888"/>
            <a:ext cx="574675" cy="633412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3600" i="1">
                <a:latin typeface="Verdana" pitchFamily="34" charset="0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2" name="Picture 1" descr="EDA logo_Grass ver.png">
            <a:extLst>
              <a:ext uri="{FF2B5EF4-FFF2-40B4-BE49-F238E27FC236}">
                <a16:creationId xmlns:a16="http://schemas.microsoft.com/office/drawing/2014/main" id="{C5C62F81-ADD6-D980-0FF7-BE6A6A6E16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733800" y="5410200"/>
            <a:ext cx="1676399" cy="10963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C845181-CF5C-4710-8252-BA94E6E0A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57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56E38C-1E18-457C-B0EF-021BB155EDA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B028405-FA24-4646-AC2D-DF9CE2A4F14B}" type="datetime1">
              <a:rPr lang="vi-VN" smtClean="0"/>
              <a:t>08/11/2025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3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287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287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0AF2B96-A022-457F-ADFE-3584FDCE02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47BA459-9952-40A6-95C1-D33806FEC52F}" type="datetime1">
              <a:rPr lang="vi-VN" smtClean="0"/>
              <a:t>08/11/2025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0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CD89AA8-39B9-4EB9-B9AA-FE73B0436F7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C94D055-AED4-40ED-B5AA-85632F12FE31}" type="datetime1">
              <a:rPr lang="vi-VN" smtClean="0"/>
              <a:t>08/11/2025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89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45D1C4-17EC-4678-842D-B23C87A8E69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E6960B3-00AD-47D7-B612-9F41A3961673}" type="datetime1">
              <a:rPr lang="vi-VN" smtClean="0"/>
              <a:t>08/11/2025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78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11BC0EB-3D5C-4AC5-88D1-E315CFBFA5F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6923C0A-801D-47AF-A826-8038902E7AA2}" type="datetime1">
              <a:rPr lang="vi-VN" smtClean="0"/>
              <a:t>08/11/2025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51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AC58D5-35D5-4EB4-8121-ECBAC7D3A65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F2BEE55-490E-45EA-AFB0-F3626469D1CE}" type="datetime1">
              <a:rPr lang="vi-VN" smtClean="0"/>
              <a:t>08/11/2025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0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C309FE-7C65-4427-B6F6-4BD44AF6DA0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1515441-B845-41C4-8CDB-80940FAAB129}" type="datetime1">
              <a:rPr lang="vi-VN" smtClean="0"/>
              <a:t>08/11/2025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30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7B79BAD-B965-4D60-9E90-3D552A087B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0561D80-E5F2-4F2E-91A2-7A2322E6037E}" type="datetime1">
              <a:rPr lang="vi-VN" smtClean="0"/>
              <a:t>08/11/2025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12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088FACF-251B-446E-9CE6-C316D998955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DE72053-9854-4F31-847B-AD6B598E0261}" type="datetime1">
              <a:rPr lang="vi-VN" smtClean="0"/>
              <a:t>08/11/2025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27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28725"/>
            <a:ext cx="8229600" cy="5248275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943600" y="6537325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971800" y="65373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7A6F1666-3530-4B2D-A466-99AD69A7C8D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>
          <a:xfrm>
            <a:off x="5943600" y="68263"/>
            <a:ext cx="2590800" cy="2365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F547BAC-9F94-4CF2-899C-3A0A588BCCF4}" type="datetime1">
              <a:rPr lang="vi-VN" smtClean="0"/>
              <a:t>08/11/2025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75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gray">
          <a:xfrm>
            <a:off x="589756" y="-2380"/>
            <a:ext cx="8497887" cy="57388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287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943600" y="6537325"/>
            <a:ext cx="2895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9718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A0F4F2C-BE6F-4BAD-9FB7-25103400B59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113518" y="61936"/>
            <a:ext cx="7391400" cy="388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EF29AA4-F374-E3B2-FF92-4CEF7D1415C3}"/>
              </a:ext>
            </a:extLst>
          </p:cNvPr>
          <p:cNvGrpSpPr/>
          <p:nvPr userDrawn="1"/>
        </p:nvGrpSpPr>
        <p:grpSpPr>
          <a:xfrm>
            <a:off x="25401" y="0"/>
            <a:ext cx="838200" cy="838200"/>
            <a:chOff x="0" y="0"/>
            <a:chExt cx="985838" cy="1081088"/>
          </a:xfrm>
        </p:grpSpPr>
        <p:sp>
          <p:nvSpPr>
            <p:cNvPr id="1048" name="Rectangle 24"/>
            <p:cNvSpPr>
              <a:spLocks noChangeArrowheads="1"/>
            </p:cNvSpPr>
            <p:nvPr/>
          </p:nvSpPr>
          <p:spPr bwMode="gray">
            <a:xfrm>
              <a:off x="0" y="719138"/>
              <a:ext cx="328613" cy="3619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9" name="Rectangle 25"/>
            <p:cNvSpPr>
              <a:spLocks noChangeArrowheads="1"/>
            </p:cNvSpPr>
            <p:nvPr/>
          </p:nvSpPr>
          <p:spPr bwMode="gray">
            <a:xfrm>
              <a:off x="328613" y="357188"/>
              <a:ext cx="328612" cy="3619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0" name="Rectangle 26"/>
            <p:cNvSpPr>
              <a:spLocks noChangeArrowheads="1"/>
            </p:cNvSpPr>
            <p:nvPr/>
          </p:nvSpPr>
          <p:spPr bwMode="gray">
            <a:xfrm>
              <a:off x="657225" y="0"/>
              <a:ext cx="328613" cy="3619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2" name="Rectangle 28"/>
            <p:cNvSpPr>
              <a:spLocks noChangeArrowheads="1"/>
            </p:cNvSpPr>
            <p:nvPr/>
          </p:nvSpPr>
          <p:spPr bwMode="gray">
            <a:xfrm>
              <a:off x="657225" y="361950"/>
              <a:ext cx="328613" cy="361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gray">
            <a:xfrm>
              <a:off x="328613" y="719138"/>
              <a:ext cx="328612" cy="361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3" name="Picture 2" descr="EDA logo_Grass ver.png">
            <a:extLst>
              <a:ext uri="{FF2B5EF4-FFF2-40B4-BE49-F238E27FC236}">
                <a16:creationId xmlns:a16="http://schemas.microsoft.com/office/drawing/2014/main" id="{5144F5D4-52AF-44A2-2CC9-46145676412A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-123768" y="-57374"/>
            <a:ext cx="1201000" cy="78545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52600" y="1800225"/>
            <a:ext cx="7086600" cy="1012825"/>
          </a:xfrm>
        </p:spPr>
        <p:txBody>
          <a:bodyPr/>
          <a:lstStyle/>
          <a:p>
            <a:r>
              <a:rPr lang="en-US" sz="2800">
                <a:latin typeface="Verdana"/>
                <a:ea typeface="Verdana"/>
              </a:rPr>
              <a:t>UART</a:t>
            </a:r>
          </a:p>
        </p:txBody>
      </p:sp>
      <p:pic>
        <p:nvPicPr>
          <p:cNvPr id="7" name="Picture 6" descr="EDA logo_Grass v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3636688"/>
            <a:ext cx="3047998" cy="199339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 bwMode="auto">
          <a:xfrm>
            <a:off x="3505200" y="5561599"/>
            <a:ext cx="1905000" cy="12192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7998" y="3542070"/>
            <a:ext cx="5959288" cy="3728649"/>
          </a:xfrm>
          <a:prstGeom prst="rect">
            <a:avLst/>
          </a:prstGeom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  <a:tabLst>
                <a:tab pos="1622425" algn="l"/>
              </a:tabLst>
            </a:pPr>
            <a:r>
              <a:rPr lang="vi-VN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T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hực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hiện</a:t>
            </a:r>
            <a:r>
              <a:rPr lang="vi-VN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	: Nguyễn Tuấn Anh </a:t>
            </a:r>
            <a:endParaRPr lang="en-US" sz="2000" b="1">
              <a:solidFill>
                <a:schemeClr val="tx2">
                  <a:lumMod val="75000"/>
                </a:schemeClr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  <a:tabLst>
                <a:tab pos="1622425" algn="l"/>
              </a:tabLst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	:</a:t>
            </a:r>
            <a:r>
              <a:rPr lang="vi-VN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Vũ Thành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Lộc</a:t>
            </a:r>
            <a:endParaRPr lang="en-US" sz="2000" b="1">
              <a:solidFill>
                <a:schemeClr val="tx2">
                  <a:lumMod val="75000"/>
                </a:schemeClr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  <a:tabLst>
                <a:tab pos="1622425" algn="l"/>
              </a:tabLst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	: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Đặng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Công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Bách</a:t>
            </a:r>
            <a:endParaRPr lang="en-US" sz="2000" b="1">
              <a:solidFill>
                <a:schemeClr val="tx2">
                  <a:lumMod val="75000"/>
                </a:schemeClr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  <a:tabLst>
                <a:tab pos="1622425" algn="l"/>
              </a:tabLst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	: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Nguyễn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Quốc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 Dũng</a:t>
            </a:r>
          </a:p>
          <a:p>
            <a:pPr algn="just">
              <a:lnSpc>
                <a:spcPct val="150000"/>
              </a:lnSpc>
              <a:tabLst>
                <a:tab pos="1622425" algn="l"/>
              </a:tabLst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	: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Đỗ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Trọng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Giáp</a:t>
            </a:r>
            <a:endParaRPr lang="vi-VN" sz="2000" b="1">
              <a:solidFill>
                <a:schemeClr val="tx2">
                  <a:lumMod val="75000"/>
                </a:schemeClr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  <a:tabLst>
                <a:tab pos="1622425" algn="l"/>
              </a:tabLst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	:</a:t>
            </a:r>
            <a:r>
              <a:rPr lang="vi-VN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Đỗ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 Thành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Đạt</a:t>
            </a:r>
            <a:endParaRPr lang="en-US" sz="2000" b="1">
              <a:solidFill>
                <a:schemeClr val="tx2">
                  <a:lumMod val="75000"/>
                </a:schemeClr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  <a:tabLst>
                <a:tab pos="1622425" algn="l"/>
              </a:tabLst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GVHD	</a:t>
            </a:r>
            <a:r>
              <a:rPr lang="vi-VN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: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Nguyễn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err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Đức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 Minh</a:t>
            </a:r>
            <a:endParaRPr lang="vi-VN" sz="2000" b="1">
              <a:solidFill>
                <a:schemeClr val="tx2">
                  <a:lumMod val="75000"/>
                </a:schemeClr>
              </a:solidFill>
              <a:latin typeface="Arial"/>
              <a:cs typeface="Arial"/>
            </a:endParaRPr>
          </a:p>
          <a:p>
            <a:pPr algn="just">
              <a:lnSpc>
                <a:spcPct val="150000"/>
              </a:lnSpc>
              <a:tabLst>
                <a:tab pos="1622425" algn="l"/>
              </a:tabLst>
            </a:pPr>
            <a:r>
              <a:rPr lang="vi-VN" sz="2000" b="1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76920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E06BC-FDD2-B9E1-F966-267419D24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Nội</a:t>
            </a:r>
            <a:r>
              <a:rPr lang="en-US"/>
              <a:t> dung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bày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46325-8192-99AA-0873-C4CFF13AE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15" y="865868"/>
            <a:ext cx="8229600" cy="5248275"/>
          </a:xfrm>
        </p:spPr>
        <p:txBody>
          <a:bodyPr/>
          <a:lstStyle/>
          <a:p>
            <a:pPr marL="514350" indent="-514350">
              <a:buFont typeface="Arial" pitchFamily="2" charset="2"/>
              <a:buChar char="•"/>
            </a:pPr>
            <a:r>
              <a:rPr lang="en-US" err="1">
                <a:ea typeface="Verdana"/>
              </a:rPr>
              <a:t>Tổng</a:t>
            </a:r>
            <a:r>
              <a:rPr lang="en-US">
                <a:ea typeface="Verdana"/>
              </a:rPr>
              <a:t> </a:t>
            </a:r>
            <a:r>
              <a:rPr lang="en-US" err="1">
                <a:ea typeface="Verdana"/>
              </a:rPr>
              <a:t>quan</a:t>
            </a:r>
            <a:r>
              <a:rPr lang="en-US">
                <a:ea typeface="Verdana"/>
              </a:rPr>
              <a:t> </a:t>
            </a:r>
            <a:r>
              <a:rPr lang="en-US" err="1">
                <a:ea typeface="Verdana"/>
              </a:rPr>
              <a:t>về</a:t>
            </a:r>
            <a:r>
              <a:rPr lang="en-US">
                <a:ea typeface="Verdana"/>
              </a:rPr>
              <a:t> UART </a:t>
            </a:r>
          </a:p>
          <a:p>
            <a:pPr marL="514350" indent="-514350">
              <a:buFont typeface="Arial" pitchFamily="2" charset="2"/>
              <a:buChar char="•"/>
            </a:pPr>
            <a:r>
              <a:rPr lang="en-US" err="1">
                <a:ea typeface="Verdana"/>
              </a:rPr>
              <a:t>Kiến</a:t>
            </a:r>
            <a:r>
              <a:rPr lang="en-US">
                <a:ea typeface="Verdana"/>
              </a:rPr>
              <a:t> </a:t>
            </a:r>
            <a:r>
              <a:rPr lang="en-US" err="1">
                <a:ea typeface="Verdana"/>
              </a:rPr>
              <a:t>trúc</a:t>
            </a:r>
            <a:r>
              <a:rPr lang="en-US">
                <a:ea typeface="Verdana"/>
              </a:rPr>
              <a:t> </a:t>
            </a:r>
            <a:r>
              <a:rPr lang="en-US" err="1">
                <a:ea typeface="Verdana"/>
              </a:rPr>
              <a:t>tổng</a:t>
            </a:r>
            <a:r>
              <a:rPr lang="en-US">
                <a:ea typeface="Verdana"/>
              </a:rPr>
              <a:t> </a:t>
            </a:r>
            <a:r>
              <a:rPr lang="en-US" err="1">
                <a:ea typeface="Verdana"/>
              </a:rPr>
              <a:t>thể</a:t>
            </a:r>
            <a:r>
              <a:rPr lang="en-US">
                <a:ea typeface="Verdana"/>
              </a:rPr>
              <a:t>  </a:t>
            </a:r>
          </a:p>
          <a:p>
            <a:pPr marL="514350" indent="-514350">
              <a:buFont typeface="Arial" pitchFamily="2" charset="2"/>
              <a:buChar char="•"/>
            </a:pPr>
            <a:r>
              <a:rPr lang="en-US">
                <a:ea typeface="Verdana"/>
              </a:rPr>
              <a:t>Waveform </a:t>
            </a:r>
          </a:p>
          <a:p>
            <a:pPr marL="514350" indent="-514350">
              <a:buFont typeface="Arial" pitchFamily="2" charset="2"/>
              <a:buChar char="•"/>
            </a:pPr>
            <a:r>
              <a:rPr lang="en-US">
                <a:latin typeface="Verdana"/>
                <a:ea typeface="Verdana"/>
                <a:cs typeface="Times New Roman"/>
              </a:rPr>
              <a:t>Verify</a:t>
            </a:r>
          </a:p>
          <a:p>
            <a:pPr marL="514350" indent="-514350">
              <a:buFont typeface="Arial" pitchFamily="2" charset="2"/>
              <a:buChar char="•"/>
            </a:pPr>
            <a:endParaRPr lang="en-US">
              <a:latin typeface="Verdana"/>
              <a:ea typeface="Verdana"/>
              <a:cs typeface="Times New Roman" panose="02020603050405020304" pitchFamily="18" charset="0"/>
            </a:endParaRPr>
          </a:p>
          <a:p>
            <a:pPr marL="514350" indent="-514350">
              <a:buFont typeface="Arial" pitchFamily="2" charset="2"/>
              <a:buChar char="•"/>
            </a:pPr>
            <a:endParaRPr lang="en-US">
              <a:latin typeface="Verdana"/>
              <a:ea typeface="Verdana"/>
              <a:cs typeface="Times New Roman" panose="02020603050405020304" pitchFamily="18" charset="0"/>
            </a:endParaRPr>
          </a:p>
          <a:p>
            <a:pPr marL="514350" indent="-514350">
              <a:buFont typeface="Arial" pitchFamily="2" charset="2"/>
              <a:buChar char="•"/>
            </a:pPr>
            <a:endParaRPr lang="en-US">
              <a:latin typeface="Verdana"/>
              <a:ea typeface="Verdana"/>
              <a:cs typeface="Times New Roman" panose="02020603050405020304" pitchFamily="18" charset="0"/>
            </a:endParaRPr>
          </a:p>
          <a:p>
            <a:pPr marL="514350" indent="-514350">
              <a:buFont typeface="Arial" pitchFamily="2" charset="2"/>
              <a:buChar char="•"/>
            </a:pPr>
            <a:endParaRPr lang="en-US">
              <a:latin typeface="Verdana"/>
              <a:ea typeface="Verdan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  <a:p>
            <a:pPr>
              <a:buFont typeface="Arial" pitchFamily="2" charset="2"/>
              <a:buChar char="•"/>
            </a:pPr>
            <a:endParaRPr lang="vi-VN"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FDDEC-7ABE-7AF0-8C9E-0A0D65E28B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9AF9E-907A-2A36-EF8C-407A2BB5CA0E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/>
          <a:p>
            <a:fld id="{BC5E724D-DA7E-4546-8132-46D68F55BC8E}" type="datetime1">
              <a:rPr lang="vi-VN" smtClean="0"/>
              <a:t>08/11/2025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8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153C4-3A32-7FEA-3B56-BA789775F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54943-2C91-95C2-9E89-BCC617845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err="1">
                <a:cs typeface="Arial"/>
              </a:rPr>
              <a:t>Tổng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quan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về</a:t>
            </a:r>
            <a:r>
              <a:rPr lang="en-US">
                <a:cs typeface="Arial"/>
              </a:rPr>
              <a:t> UART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35702-08EE-324C-B19D-29F2A6B5AA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78352-BDC9-1A43-16E0-FED63503ECF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/>
          <a:p>
            <a:fld id="{BC5E724D-DA7E-4546-8132-46D68F55BC8E}" type="datetime1">
              <a:rPr lang="vi-VN" smtClean="0"/>
              <a:t>08/11/2025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EAD334-5FCC-E1D8-944B-FBBEAC165BB4}"/>
              </a:ext>
            </a:extLst>
          </p:cNvPr>
          <p:cNvSpPr txBox="1"/>
          <p:nvPr/>
        </p:nvSpPr>
        <p:spPr>
          <a:xfrm>
            <a:off x="888758" y="3603631"/>
            <a:ext cx="786993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Calibri"/>
              <a:buChar char="-"/>
            </a:pPr>
            <a:r>
              <a:rPr lang="en-US" err="1">
                <a:latin typeface="Arial"/>
                <a:cs typeface="Arial"/>
              </a:rPr>
              <a:t>Hệ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thống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gồm</a:t>
            </a:r>
            <a:r>
              <a:rPr lang="en-US">
                <a:latin typeface="Arial"/>
                <a:cs typeface="Arial"/>
              </a:rPr>
              <a:t> 3 </a:t>
            </a:r>
            <a:r>
              <a:rPr lang="en-US" err="1">
                <a:latin typeface="Arial"/>
                <a:cs typeface="Arial"/>
              </a:rPr>
              <a:t>phần</a:t>
            </a:r>
            <a:r>
              <a:rPr lang="en-US">
                <a:latin typeface="Arial"/>
                <a:cs typeface="Arial"/>
              </a:rPr>
              <a:t>:</a:t>
            </a:r>
            <a:endParaRPr lang="en-US">
              <a:cs typeface="Arial"/>
            </a:endParaRPr>
          </a:p>
          <a:p>
            <a:pPr marL="742950" lvl="1" indent="-285750" algn="l">
              <a:buFont typeface="Courier New"/>
              <a:buChar char="o"/>
            </a:pPr>
            <a:r>
              <a:rPr lang="en-US" b="1">
                <a:latin typeface="Arial"/>
                <a:cs typeface="Arial"/>
              </a:rPr>
              <a:t>CPU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 err="1">
                <a:latin typeface="Arial"/>
                <a:cs typeface="Arial"/>
              </a:rPr>
              <a:t>Đưa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ra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các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lệnh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điều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khiển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thông</a:t>
            </a:r>
            <a:r>
              <a:rPr lang="en-US">
                <a:latin typeface="Arial"/>
                <a:cs typeface="Arial"/>
              </a:rPr>
              <a:t> qua BUS </a:t>
            </a:r>
            <a:r>
              <a:rPr lang="en-US" err="1">
                <a:latin typeface="Arial"/>
                <a:cs typeface="Arial"/>
              </a:rPr>
              <a:t>để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đưa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đến</a:t>
            </a:r>
            <a:r>
              <a:rPr lang="en-US">
                <a:latin typeface="Arial"/>
                <a:cs typeface="Arial"/>
              </a:rPr>
              <a:t> UART CORE</a:t>
            </a:r>
            <a:endParaRPr lang="en-US">
              <a:cs typeface="Arial"/>
            </a:endParaRPr>
          </a:p>
          <a:p>
            <a:pPr marL="742950" lvl="1" indent="-285750" algn="l">
              <a:buFont typeface="Courier New"/>
              <a:buChar char="o"/>
            </a:pPr>
            <a:r>
              <a:rPr lang="en-US" b="1">
                <a:latin typeface="Arial"/>
                <a:cs typeface="Arial"/>
              </a:rPr>
              <a:t>UART CORE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 err="1">
                <a:latin typeface="Arial"/>
                <a:cs typeface="Arial"/>
              </a:rPr>
              <a:t>Xử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lí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tín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hiệu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nhận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vào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err="1">
                <a:latin typeface="Arial"/>
                <a:cs typeface="Arial"/>
              </a:rPr>
              <a:t>và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giao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tiếp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với</a:t>
            </a:r>
            <a:r>
              <a:rPr lang="en-US">
                <a:latin typeface="Arial"/>
                <a:cs typeface="Arial"/>
              </a:rPr>
              <a:t> CPU </a:t>
            </a:r>
            <a:r>
              <a:rPr lang="en-US" err="1">
                <a:latin typeface="Arial"/>
                <a:cs typeface="Arial"/>
              </a:rPr>
              <a:t>và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err="1">
                <a:latin typeface="Arial"/>
                <a:cs typeface="Arial"/>
              </a:rPr>
              <a:t>ngoại</a:t>
            </a:r>
            <a:r>
              <a:rPr lang="en-US">
                <a:latin typeface="Arial"/>
                <a:cs typeface="Arial"/>
              </a:rPr>
              <a:t> vi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 b="1">
                <a:latin typeface="Arial"/>
                <a:cs typeface="Arial"/>
              </a:rPr>
              <a:t>Peripheral Device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 err="1">
                <a:latin typeface="Arial"/>
                <a:cs typeface="Arial"/>
              </a:rPr>
              <a:t>Ngoại</a:t>
            </a:r>
            <a:r>
              <a:rPr lang="en-US">
                <a:latin typeface="Arial"/>
                <a:cs typeface="Arial"/>
              </a:rPr>
              <a:t> vi </a:t>
            </a:r>
          </a:p>
          <a:p>
            <a:pPr lvl="2" algn="l"/>
            <a:endParaRPr lang="en-US">
              <a:latin typeface="Arial"/>
              <a:cs typeface="Arial"/>
            </a:endParaRPr>
          </a:p>
          <a:p>
            <a:pPr lvl="2" algn="l"/>
            <a:r>
              <a:rPr lang="en-US">
                <a:latin typeface="Arial"/>
                <a:cs typeface="Arial"/>
              </a:rPr>
              <a:t> </a:t>
            </a:r>
            <a:endParaRPr lang="en-US">
              <a:cs typeface="Arial" charset="0"/>
            </a:endParaRPr>
          </a:p>
          <a:p>
            <a:pPr algn="l"/>
            <a:r>
              <a:rPr lang="en-US">
                <a:latin typeface="Arial"/>
                <a:cs typeface="Arial"/>
              </a:rPr>
              <a:t> </a:t>
            </a:r>
          </a:p>
        </p:txBody>
      </p:sp>
      <p:pic>
        <p:nvPicPr>
          <p:cNvPr id="11" name="Picture 10" descr="A rectangular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71E0B450-5AC5-3628-1055-F331D8659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854" y="1206458"/>
            <a:ext cx="6758373" cy="237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19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D507D-B9A2-64E4-C099-6BE976799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7A9CC-FD49-9FE8-C250-8E90B51B0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err="1">
                <a:cs typeface="Arial"/>
              </a:rPr>
              <a:t>Tổng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quan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về</a:t>
            </a:r>
            <a:r>
              <a:rPr lang="en-US">
                <a:cs typeface="Arial"/>
              </a:rPr>
              <a:t> UART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8F1C4-FCFD-9F7A-760A-82249594D4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5AFA3-0B89-17E3-D47D-C7D135CEE65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/>
          <a:p>
            <a:fld id="{BC5E724D-DA7E-4546-8132-46D68F55BC8E}" type="datetime1">
              <a:rPr lang="vi-VN" smtClean="0"/>
              <a:t>08/11/2025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1EE6C2-7077-3609-1CE3-FEE44E1C4C2F}"/>
              </a:ext>
            </a:extLst>
          </p:cNvPr>
          <p:cNvSpPr txBox="1"/>
          <p:nvPr/>
        </p:nvSpPr>
        <p:spPr>
          <a:xfrm>
            <a:off x="751213" y="624247"/>
            <a:ext cx="6887885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AutoNum type="arabicPeriod"/>
            </a:pPr>
            <a:r>
              <a:rPr lang="en-US" err="1">
                <a:latin typeface="Arial"/>
                <a:cs typeface="Arial"/>
              </a:rPr>
              <a:t>Cấu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hình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một</a:t>
            </a:r>
            <a:r>
              <a:rPr lang="en-US">
                <a:latin typeface="Arial"/>
                <a:cs typeface="Arial"/>
              </a:rPr>
              <a:t> frame </a:t>
            </a:r>
            <a:r>
              <a:rPr lang="en-US" err="1">
                <a:latin typeface="Arial"/>
                <a:cs typeface="Arial"/>
              </a:rPr>
              <a:t>truyền</a:t>
            </a:r>
            <a:r>
              <a:rPr lang="en-US">
                <a:latin typeface="Arial"/>
                <a:cs typeface="Arial"/>
              </a:rPr>
              <a:t> data</a:t>
            </a:r>
          </a:p>
          <a:p>
            <a:pPr algn="l"/>
            <a:r>
              <a:rPr lang="en-US">
                <a:latin typeface="Arial"/>
                <a:cs typeface="Arial"/>
              </a:rPr>
              <a:t>  </a:t>
            </a:r>
            <a:r>
              <a:rPr lang="en-US" sz="2000">
                <a:solidFill>
                  <a:srgbClr val="1B33E7"/>
                </a:solidFill>
                <a:latin typeface="Wingdings"/>
                <a:cs typeface="Arial"/>
                <a:sym typeface="Wingdings"/>
              </a:rPr>
              <a:t>§</a:t>
            </a:r>
            <a:r>
              <a:rPr lang="en-US" sz="2000" err="1">
                <a:latin typeface="Arial"/>
                <a:cs typeface="Arial"/>
              </a:rPr>
              <a:t>Cấu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hình</a:t>
            </a:r>
            <a:r>
              <a:rPr lang="en-US" sz="2000">
                <a:latin typeface="Arial"/>
                <a:cs typeface="Arial"/>
              </a:rPr>
              <a:t> </a:t>
            </a:r>
            <a:r>
              <a:rPr lang="en-US" sz="2000" err="1">
                <a:latin typeface="Arial"/>
                <a:cs typeface="Arial"/>
              </a:rPr>
              <a:t>một</a:t>
            </a:r>
            <a:r>
              <a:rPr lang="en-US" sz="2000">
                <a:latin typeface="Arial"/>
                <a:cs typeface="Arial"/>
              </a:rPr>
              <a:t> frame </a:t>
            </a:r>
            <a:r>
              <a:rPr lang="en-US" sz="2000" err="1">
                <a:latin typeface="Arial"/>
                <a:cs typeface="Arial"/>
              </a:rPr>
              <a:t>truyền</a:t>
            </a:r>
            <a:r>
              <a:rPr lang="en-US" sz="2000">
                <a:latin typeface="Arial"/>
                <a:cs typeface="Arial"/>
              </a:rPr>
              <a:t>: </a:t>
            </a:r>
            <a:endParaRPr lang="en-US">
              <a:cs typeface="Arial"/>
            </a:endParaRPr>
          </a:p>
          <a:p>
            <a:pPr algn="l"/>
            <a:r>
              <a:rPr lang="en-US" sz="2000">
                <a:latin typeface="Arial"/>
                <a:cs typeface="Arial"/>
              </a:rPr>
              <a:t>   •</a:t>
            </a:r>
            <a:r>
              <a:rPr lang="en-US" sz="2000" b="1">
                <a:latin typeface="Arial"/>
                <a:cs typeface="Arial"/>
              </a:rPr>
              <a:t>Bit data</a:t>
            </a:r>
            <a:r>
              <a:rPr lang="en-US" sz="2000">
                <a:latin typeface="Arial"/>
                <a:cs typeface="Arial"/>
              </a:rPr>
              <a:t>:  5 - 8</a:t>
            </a:r>
            <a:endParaRPr lang="en-US"/>
          </a:p>
          <a:p>
            <a:pPr algn="l"/>
            <a:r>
              <a:rPr lang="en-US" sz="2000">
                <a:latin typeface="Arial"/>
                <a:cs typeface="Arial"/>
              </a:rPr>
              <a:t>   •</a:t>
            </a:r>
            <a:r>
              <a:rPr lang="en-US" sz="2000" b="1">
                <a:latin typeface="Arial"/>
                <a:cs typeface="Arial"/>
              </a:rPr>
              <a:t>Bit parity</a:t>
            </a:r>
            <a:r>
              <a:rPr lang="en-US" sz="2000">
                <a:latin typeface="Arial"/>
                <a:cs typeface="Arial"/>
              </a:rPr>
              <a:t>: 0 </a:t>
            </a:r>
            <a:r>
              <a:rPr lang="en-US" sz="2000" err="1">
                <a:latin typeface="Arial"/>
                <a:cs typeface="Arial"/>
              </a:rPr>
              <a:t>hoặc</a:t>
            </a:r>
            <a:r>
              <a:rPr lang="en-US" sz="2000">
                <a:latin typeface="Arial"/>
                <a:cs typeface="Arial"/>
              </a:rPr>
              <a:t> 1</a:t>
            </a:r>
            <a:endParaRPr lang="en-US"/>
          </a:p>
          <a:p>
            <a:pPr algn="l"/>
            <a:r>
              <a:rPr lang="en-US" sz="2000">
                <a:latin typeface="Arial"/>
                <a:cs typeface="Arial"/>
              </a:rPr>
              <a:t>   •</a:t>
            </a:r>
            <a:r>
              <a:rPr lang="en-US" sz="2000" b="1">
                <a:latin typeface="Arial"/>
                <a:cs typeface="Arial"/>
              </a:rPr>
              <a:t>Parity type</a:t>
            </a:r>
            <a:r>
              <a:rPr lang="en-US" sz="2000">
                <a:latin typeface="Arial"/>
                <a:cs typeface="Arial"/>
              </a:rPr>
              <a:t>: odd </a:t>
            </a:r>
            <a:r>
              <a:rPr lang="en-US" sz="2000" err="1">
                <a:latin typeface="Arial"/>
                <a:cs typeface="Arial"/>
              </a:rPr>
              <a:t>hoặc</a:t>
            </a:r>
            <a:r>
              <a:rPr lang="en-US" sz="2000">
                <a:latin typeface="Arial"/>
                <a:cs typeface="Arial"/>
              </a:rPr>
              <a:t> even</a:t>
            </a:r>
            <a:endParaRPr lang="en-US"/>
          </a:p>
          <a:p>
            <a:pPr algn="l"/>
            <a:r>
              <a:rPr lang="en-US" sz="2000">
                <a:latin typeface="Arial"/>
                <a:cs typeface="Arial"/>
              </a:rPr>
              <a:t>   •</a:t>
            </a:r>
            <a:r>
              <a:rPr lang="en-US" sz="2000" b="1">
                <a:latin typeface="Arial"/>
                <a:cs typeface="Arial"/>
              </a:rPr>
              <a:t>Bit stop</a:t>
            </a:r>
            <a:r>
              <a:rPr lang="en-US" sz="2000">
                <a:latin typeface="Arial"/>
                <a:cs typeface="Arial"/>
              </a:rPr>
              <a:t>: 1 </a:t>
            </a:r>
            <a:r>
              <a:rPr lang="en-US" sz="2000" err="1">
                <a:latin typeface="Arial"/>
                <a:cs typeface="Arial"/>
              </a:rPr>
              <a:t>hoặc</a:t>
            </a:r>
            <a:r>
              <a:rPr lang="en-US" sz="2000">
                <a:latin typeface="Arial"/>
                <a:cs typeface="Arial"/>
              </a:rPr>
              <a:t> 2</a:t>
            </a:r>
            <a:endParaRPr lang="en-US"/>
          </a:p>
          <a:p>
            <a:pPr algn="l"/>
            <a:endParaRPr lang="en-US">
              <a:cs typeface="Arial"/>
            </a:endParaRPr>
          </a:p>
        </p:txBody>
      </p:sp>
      <p:pic>
        <p:nvPicPr>
          <p:cNvPr id="7" name="Picture 6" descr="A rectangular object with black dots&#10;&#10;AI-generated content may be incorrect.">
            <a:extLst>
              <a:ext uri="{FF2B5EF4-FFF2-40B4-BE49-F238E27FC236}">
                <a16:creationId xmlns:a16="http://schemas.microsoft.com/office/drawing/2014/main" id="{CF65FB01-5040-F7A2-4208-A453FF831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996" y="2805303"/>
            <a:ext cx="6438519" cy="8176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07F483-47B6-8F43-7BD4-EAB0D75138B7}"/>
              </a:ext>
            </a:extLst>
          </p:cNvPr>
          <p:cNvSpPr txBox="1"/>
          <p:nvPr/>
        </p:nvSpPr>
        <p:spPr>
          <a:xfrm>
            <a:off x="888758" y="3603631"/>
            <a:ext cx="786993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"/>
                <a:cs typeface="Arial"/>
              </a:rPr>
              <a:t>Parity type: 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 b="1">
                <a:latin typeface="Arial"/>
                <a:cs typeface="Arial"/>
              </a:rPr>
              <a:t>Odd ( </a:t>
            </a:r>
            <a:r>
              <a:rPr lang="en-US" b="1" err="1">
                <a:latin typeface="Arial"/>
                <a:cs typeface="Arial"/>
              </a:rPr>
              <a:t>lẻ</a:t>
            </a:r>
            <a:r>
              <a:rPr lang="en-US" b="1">
                <a:latin typeface="Arial"/>
                <a:cs typeface="Arial"/>
              </a:rPr>
              <a:t>)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 err="1">
                <a:latin typeface="Arial"/>
                <a:cs typeface="Arial"/>
              </a:rPr>
              <a:t>tổng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số</a:t>
            </a:r>
            <a:r>
              <a:rPr lang="en-US">
                <a:latin typeface="Arial"/>
                <a:cs typeface="Arial"/>
              </a:rPr>
              <a:t> bit 1 </a:t>
            </a:r>
            <a:r>
              <a:rPr lang="en-US" err="1">
                <a:latin typeface="Arial"/>
                <a:cs typeface="Arial"/>
              </a:rPr>
              <a:t>trong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toàn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bộ</a:t>
            </a:r>
            <a:r>
              <a:rPr lang="en-US">
                <a:latin typeface="Arial"/>
                <a:cs typeface="Arial"/>
              </a:rPr>
              <a:t> frame (data + parity) </a:t>
            </a:r>
            <a:r>
              <a:rPr lang="en-US" err="1">
                <a:latin typeface="Arial"/>
                <a:cs typeface="Arial"/>
              </a:rPr>
              <a:t>truyền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err="1">
                <a:latin typeface="Arial"/>
                <a:cs typeface="Arial"/>
              </a:rPr>
              <a:t>phải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là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lẻ</a:t>
            </a:r>
            <a:endParaRPr lang="en-US">
              <a:latin typeface="Arial"/>
              <a:cs typeface="Arial"/>
            </a:endParaRPr>
          </a:p>
          <a:p>
            <a:pPr marL="1200150" lvl="2" indent="-285750" algn="l">
              <a:buFont typeface="Arial,Sans-Serif"/>
              <a:buChar char="•"/>
            </a:pPr>
            <a:r>
              <a:rPr lang="en-US" err="1">
                <a:latin typeface="Arial"/>
                <a:cs typeface="Arial"/>
              </a:rPr>
              <a:t>Ví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err="1">
                <a:latin typeface="Arial"/>
                <a:cs typeface="Arial"/>
              </a:rPr>
              <a:t>dụ</a:t>
            </a:r>
            <a:r>
              <a:rPr lang="en-US">
                <a:latin typeface="Arial"/>
                <a:cs typeface="Arial"/>
              </a:rPr>
              <a:t>: data[7:0] = 8'b1011_0011 ( </a:t>
            </a:r>
            <a:r>
              <a:rPr lang="en-US" err="1">
                <a:latin typeface="Arial"/>
                <a:cs typeface="Arial"/>
              </a:rPr>
              <a:t>lẻ</a:t>
            </a:r>
            <a:r>
              <a:rPr lang="en-US">
                <a:latin typeface="Arial"/>
                <a:cs typeface="Arial"/>
              </a:rPr>
              <a:t> bit 1) =&gt; parity bit =0</a:t>
            </a:r>
          </a:p>
          <a:p>
            <a:pPr marL="1200150" lvl="2" indent="-285750" algn="l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   data[6:0]  = 7'b001_1000  ( </a:t>
            </a:r>
            <a:r>
              <a:rPr lang="en-US" err="1">
                <a:latin typeface="Arial"/>
                <a:cs typeface="Arial"/>
              </a:rPr>
              <a:t>chẵn</a:t>
            </a:r>
            <a:r>
              <a:rPr lang="en-US">
                <a:latin typeface="Arial"/>
                <a:cs typeface="Arial"/>
              </a:rPr>
              <a:t> bit 1) =&gt; parity bit =1</a:t>
            </a:r>
            <a:endParaRPr lang="en-US"/>
          </a:p>
          <a:p>
            <a:pPr marL="742950" lvl="1" indent="-285750" algn="l">
              <a:buFont typeface="Courier New"/>
              <a:buChar char="o"/>
            </a:pPr>
            <a:r>
              <a:rPr lang="en-US" b="1">
                <a:latin typeface="Arial"/>
                <a:cs typeface="Arial"/>
              </a:rPr>
              <a:t>Even (</a:t>
            </a:r>
            <a:r>
              <a:rPr lang="en-US" b="1" err="1">
                <a:latin typeface="Arial"/>
                <a:cs typeface="Arial"/>
              </a:rPr>
              <a:t>chẵn</a:t>
            </a:r>
            <a:r>
              <a:rPr lang="en-US" b="1">
                <a:latin typeface="Arial"/>
                <a:cs typeface="Arial"/>
              </a:rPr>
              <a:t>)</a:t>
            </a:r>
            <a:r>
              <a:rPr lang="en-US">
                <a:latin typeface="Arial"/>
                <a:cs typeface="Arial"/>
              </a:rPr>
              <a:t> : </a:t>
            </a:r>
            <a:r>
              <a:rPr lang="en-US" err="1">
                <a:latin typeface="Arial"/>
                <a:cs typeface="Arial"/>
              </a:rPr>
              <a:t>tổng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số</a:t>
            </a:r>
            <a:r>
              <a:rPr lang="en-US">
                <a:latin typeface="Arial"/>
                <a:cs typeface="Arial"/>
              </a:rPr>
              <a:t> bit 1 </a:t>
            </a:r>
            <a:r>
              <a:rPr lang="en-US" err="1">
                <a:latin typeface="Arial"/>
                <a:cs typeface="Arial"/>
              </a:rPr>
              <a:t>trong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toàn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bộ</a:t>
            </a:r>
            <a:r>
              <a:rPr lang="en-US">
                <a:latin typeface="Arial"/>
                <a:cs typeface="Arial"/>
              </a:rPr>
              <a:t> frame </a:t>
            </a:r>
            <a:r>
              <a:rPr lang="en-US" err="1">
                <a:latin typeface="Arial"/>
                <a:cs typeface="Arial"/>
              </a:rPr>
              <a:t>truyền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phải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là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chẵn</a:t>
            </a:r>
            <a:endParaRPr lang="en-US">
              <a:latin typeface="Arial"/>
              <a:cs typeface="Arial"/>
            </a:endParaRPr>
          </a:p>
          <a:p>
            <a:pPr marL="1200150" lvl="2" indent="-285750" algn="l">
              <a:buFont typeface="Arial"/>
              <a:buChar char="•"/>
            </a:pPr>
            <a:r>
              <a:rPr lang="en-US" err="1">
                <a:latin typeface="Arial"/>
                <a:cs typeface="Arial"/>
              </a:rPr>
              <a:t>Ví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dụ</a:t>
            </a:r>
            <a:r>
              <a:rPr lang="en-US">
                <a:latin typeface="Arial"/>
                <a:cs typeface="Arial"/>
              </a:rPr>
              <a:t>: data[7:0] = 8'b1011_0011 ( </a:t>
            </a:r>
            <a:r>
              <a:rPr lang="en-US" err="1">
                <a:latin typeface="Arial"/>
                <a:cs typeface="Arial"/>
              </a:rPr>
              <a:t>lẻ</a:t>
            </a:r>
            <a:r>
              <a:rPr lang="en-US">
                <a:latin typeface="Arial"/>
                <a:cs typeface="Arial"/>
              </a:rPr>
              <a:t> bit 1) =&gt; parity bit = 1</a:t>
            </a:r>
            <a:endParaRPr lang="en-US">
              <a:cs typeface="Arial" charset="0"/>
            </a:endParaRPr>
          </a:p>
          <a:p>
            <a:pPr lvl="4" algn="l"/>
            <a:r>
              <a:rPr lang="en-US">
                <a:latin typeface="Arial"/>
                <a:cs typeface="Arial"/>
              </a:rPr>
              <a:t>data[6:0] = 7'b001_1000 ( </a:t>
            </a:r>
            <a:r>
              <a:rPr lang="en-US" err="1">
                <a:latin typeface="Arial"/>
                <a:cs typeface="Arial"/>
              </a:rPr>
              <a:t>chẵn</a:t>
            </a:r>
            <a:r>
              <a:rPr lang="en-US">
                <a:latin typeface="Arial"/>
                <a:cs typeface="Arial"/>
              </a:rPr>
              <a:t> bit 1) =&gt; parity bit =0</a:t>
            </a:r>
          </a:p>
          <a:p>
            <a:pPr lvl="2" algn="l"/>
            <a:endParaRPr lang="en-US">
              <a:latin typeface="Arial"/>
              <a:cs typeface="Arial"/>
            </a:endParaRPr>
          </a:p>
          <a:p>
            <a:pPr lvl="2" algn="l"/>
            <a:r>
              <a:rPr lang="en-US">
                <a:latin typeface="Arial"/>
                <a:cs typeface="Arial"/>
              </a:rPr>
              <a:t> </a:t>
            </a:r>
            <a:endParaRPr lang="en-US">
              <a:cs typeface="Arial" charset="0"/>
            </a:endParaRPr>
          </a:p>
          <a:p>
            <a:pPr algn="l"/>
            <a:r>
              <a:rPr lang="en-US">
                <a:latin typeface="Arial"/>
                <a:cs typeface="Arial"/>
              </a:rPr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3887343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5385D-212C-136B-AB14-6DA69645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65EB-B978-375A-1C70-804CB8CC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err="1">
                <a:cs typeface="Arial"/>
              </a:rPr>
              <a:t>Kiến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trúc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tổng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quan</a:t>
            </a:r>
            <a:endParaRPr lang="vi-VN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618DD-FBD0-70E7-CD4B-D5E856F5E9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DC2CE-5B6C-517A-E4C0-D03D8E7D36D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/>
          <a:p>
            <a:fld id="{BC5E724D-DA7E-4546-8132-46D68F55BC8E}" type="datetime1">
              <a:rPr lang="vi-VN" smtClean="0"/>
              <a:t>08/11/2025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E33758-2687-7B3D-7D08-894AFB7A1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000400"/>
              </p:ext>
            </p:extLst>
          </p:nvPr>
        </p:nvGraphicFramePr>
        <p:xfrm>
          <a:off x="3960575" y="721603"/>
          <a:ext cx="5120628" cy="5958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623">
                  <a:extLst>
                    <a:ext uri="{9D8B030D-6E8A-4147-A177-3AD203B41FA5}">
                      <a16:colId xmlns:a16="http://schemas.microsoft.com/office/drawing/2014/main" val="518288278"/>
                    </a:ext>
                  </a:extLst>
                </a:gridCol>
                <a:gridCol w="761410">
                  <a:extLst>
                    <a:ext uri="{9D8B030D-6E8A-4147-A177-3AD203B41FA5}">
                      <a16:colId xmlns:a16="http://schemas.microsoft.com/office/drawing/2014/main" val="2019581707"/>
                    </a:ext>
                  </a:extLst>
                </a:gridCol>
                <a:gridCol w="589654">
                  <a:extLst>
                    <a:ext uri="{9D8B030D-6E8A-4147-A177-3AD203B41FA5}">
                      <a16:colId xmlns:a16="http://schemas.microsoft.com/office/drawing/2014/main" val="2209198202"/>
                    </a:ext>
                  </a:extLst>
                </a:gridCol>
                <a:gridCol w="2652941">
                  <a:extLst>
                    <a:ext uri="{9D8B030D-6E8A-4147-A177-3AD203B41FA5}">
                      <a16:colId xmlns:a16="http://schemas.microsoft.com/office/drawing/2014/main" val="3175709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/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43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err="1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clock </a:t>
                      </a:r>
                      <a:r>
                        <a:rPr lang="en-US" sz="1000" err="1"/>
                        <a:t>hệ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thống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502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err="1"/>
                        <a:t>rst_n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reset </a:t>
                      </a:r>
                      <a:r>
                        <a:rPr lang="en-US" sz="1000" err="1"/>
                        <a:t>tích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cực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mức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thấp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274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err="1"/>
                        <a:t>data_bit_num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Tín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hiệu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để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giải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mã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ra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số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bit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của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data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774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err="1"/>
                        <a:t>stop_bit_num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Tín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hiệu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để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giải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mã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ra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số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bit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của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stop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15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err="1"/>
                        <a:t>parity_en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báo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có</a:t>
                      </a:r>
                      <a:r>
                        <a:rPr lang="en-US" sz="1000"/>
                        <a:t> parity bit hay </a:t>
                      </a:r>
                      <a:r>
                        <a:rPr lang="en-US" sz="1000" err="1"/>
                        <a:t>không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5656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parity_type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parity ODD/EVEN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706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err="1"/>
                        <a:t>tx_data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Data </a:t>
                      </a:r>
                      <a:r>
                        <a:rPr lang="en-US" sz="1000" err="1"/>
                        <a:t>cần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truyền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ra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chân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194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err="1"/>
                        <a:t>start_tx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bắt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đầu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truyền</a:t>
                      </a:r>
                      <a:r>
                        <a:rPr lang="en-US" sz="1000"/>
                        <a:t>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0578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tx_done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báo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đã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truyền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xong</a:t>
                      </a:r>
                      <a:r>
                        <a:rPr lang="en-US" sz="1000"/>
                        <a:t> 1 transaction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629638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rx_data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Data </a:t>
                      </a:r>
                      <a:r>
                        <a:rPr lang="en-US" sz="1000" err="1"/>
                        <a:t>nhận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được</a:t>
                      </a:r>
                      <a:r>
                        <a:rPr lang="en-US" sz="1000"/>
                        <a:t> qua </a:t>
                      </a:r>
                      <a:r>
                        <a:rPr lang="en-US" sz="1000" err="1"/>
                        <a:t>chân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rx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67234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rx_done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báo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rx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đã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nhận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xong</a:t>
                      </a:r>
                      <a:r>
                        <a:rPr lang="en-US" sz="1000"/>
                        <a:t>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6111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Chân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ra</a:t>
                      </a:r>
                      <a:r>
                        <a:rPr lang="en-US" sz="1000"/>
                        <a:t> data </a:t>
                      </a:r>
                      <a:r>
                        <a:rPr lang="en-US" sz="1000" err="1"/>
                        <a:t>nối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tiếp</a:t>
                      </a:r>
                      <a:r>
                        <a:rPr lang="en-US" sz="1000"/>
                        <a:t> </a:t>
                      </a:r>
                      <a:endParaRPr lang="en-US" sz="100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25780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Chân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nhận</a:t>
                      </a:r>
                      <a:r>
                        <a:rPr lang="en-US" sz="1000"/>
                        <a:t> data </a:t>
                      </a:r>
                      <a:r>
                        <a:rPr lang="en-US" sz="1000" err="1"/>
                        <a:t>nối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tiếp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19313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rts_n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bắt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tay</a:t>
                      </a:r>
                      <a:r>
                        <a:rPr lang="en-US" sz="1000"/>
                        <a:t> request-to-send 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5971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cts_n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bắt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tay</a:t>
                      </a:r>
                      <a:r>
                        <a:rPr lang="en-US" sz="1000"/>
                        <a:t> clear-to-send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921487"/>
                  </a:ext>
                </a:extLst>
              </a:tr>
            </a:tbl>
          </a:graphicData>
        </a:graphic>
      </p:graphicFrame>
      <p:pic>
        <p:nvPicPr>
          <p:cNvPr id="6" name="Picture 5" descr="A rectangular object with arrows&#10;&#10;AI-generated content may be incorrect.">
            <a:extLst>
              <a:ext uri="{FF2B5EF4-FFF2-40B4-BE49-F238E27FC236}">
                <a16:creationId xmlns:a16="http://schemas.microsoft.com/office/drawing/2014/main" id="{305BF114-CDB5-0F24-AF68-EFD2AE27C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" y="2061872"/>
            <a:ext cx="3854538" cy="274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934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D3EB8-44DF-9700-8123-6D7587CA6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9016A-92E7-6DB8-BA40-479A7B47D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err="1">
                <a:cs typeface="Arial"/>
              </a:rPr>
              <a:t>Kiến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trúc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tổng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quan</a:t>
            </a:r>
            <a:endParaRPr lang="vi-VN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4FD00-AD12-3742-0248-5E83CD0005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59DC4-1113-30F0-728A-8ACD3D9EFD2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/>
          <a:p>
            <a:fld id="{BC5E724D-DA7E-4546-8132-46D68F55BC8E}" type="datetime1">
              <a:rPr lang="vi-VN" smtClean="0"/>
              <a:t>08/11/2025</a:t>
            </a:fld>
            <a:endParaRPr lang="en-US"/>
          </a:p>
        </p:txBody>
      </p:sp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0F1C6D73-39FF-FB51-437C-5D82B06DC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168" y="633222"/>
            <a:ext cx="6792468" cy="559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3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667CF-C793-220B-4ACA-DE343FB88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02D4-5B62-0DB0-56F4-C2C8EDE70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2.1</a:t>
            </a:r>
            <a:r>
              <a:rPr lang="vi-VN">
                <a:cs typeface="Arial"/>
              </a:rPr>
              <a:t>. </a:t>
            </a:r>
            <a:r>
              <a:rPr lang="en-US">
                <a:latin typeface="Lato"/>
                <a:ea typeface="Lato"/>
                <a:cs typeface="Lato"/>
              </a:rPr>
              <a:t>Baud Generator</a:t>
            </a:r>
            <a:endParaRPr lang="vi-VN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E9516-EE9F-35E3-4174-24B480771C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099F6-3173-C3D1-3C8E-EF0010A02EE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/>
          <a:p>
            <a:fld id="{BC5E724D-DA7E-4546-8132-46D68F55BC8E}" type="datetime1">
              <a:rPr lang="vi-VN" smtClean="0"/>
              <a:t>08/11/2025</a:t>
            </a:fld>
            <a:endParaRPr lang="en-US"/>
          </a:p>
        </p:txBody>
      </p:sp>
      <p:pic>
        <p:nvPicPr>
          <p:cNvPr id="7" name="Picture 6" descr="A diagram of a machine&#10;&#10;AI-generated content may be incorrect.">
            <a:extLst>
              <a:ext uri="{FF2B5EF4-FFF2-40B4-BE49-F238E27FC236}">
                <a16:creationId xmlns:a16="http://schemas.microsoft.com/office/drawing/2014/main" id="{E37FAE0B-0EB4-96C0-C31D-4C3BACFEC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696" y="3138104"/>
            <a:ext cx="5572125" cy="2876550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EE2CD152-666E-ECC8-E323-AB738D95E325}"/>
              </a:ext>
            </a:extLst>
          </p:cNvPr>
          <p:cNvSpPr txBox="1"/>
          <p:nvPr/>
        </p:nvSpPr>
        <p:spPr>
          <a:xfrm>
            <a:off x="55870" y="1259070"/>
            <a:ext cx="3541369" cy="175432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b="1">
                <a:ea typeface="Calibri"/>
                <a:cs typeface="Calibri"/>
              </a:rPr>
              <a:t>Baud rate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là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tốc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độ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truyền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của</a:t>
            </a:r>
            <a:r>
              <a:rPr lang="en-US">
                <a:ea typeface="Calibri"/>
                <a:cs typeface="Calibri"/>
              </a:rPr>
              <a:t> UART </a:t>
            </a:r>
            <a:r>
              <a:rPr lang="en-US" err="1">
                <a:ea typeface="Calibri"/>
                <a:cs typeface="Calibri"/>
              </a:rPr>
              <a:t>đơn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vị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là</a:t>
            </a:r>
            <a:r>
              <a:rPr lang="en-US">
                <a:ea typeface="Calibri"/>
                <a:cs typeface="Calibri"/>
              </a:rPr>
              <a:t> bit/s</a:t>
            </a:r>
          </a:p>
          <a:p>
            <a:pPr marL="285750" indent="-285750">
              <a:buFont typeface="Arial"/>
              <a:buChar char="•"/>
            </a:pPr>
            <a:r>
              <a:rPr lang="en-US" b="1" err="1">
                <a:ea typeface="Calibri"/>
                <a:cs typeface="Calibri"/>
              </a:rPr>
              <a:t>Baud_generator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là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khối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để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sinh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ra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xung</a:t>
            </a:r>
            <a:r>
              <a:rPr lang="en-US">
                <a:ea typeface="Calibri"/>
                <a:cs typeface="Calibri"/>
              </a:rPr>
              <a:t> baud(tick) =&gt; </a:t>
            </a:r>
            <a:r>
              <a:rPr lang="en-US" err="1">
                <a:ea typeface="Calibri"/>
                <a:cs typeface="Calibri"/>
              </a:rPr>
              <a:t>Điều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khiển</a:t>
            </a:r>
            <a:r>
              <a:rPr lang="en-US">
                <a:ea typeface="Calibri"/>
                <a:cs typeface="Calibri"/>
              </a:rPr>
              <a:t> TX, RX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EA75D-E501-DF20-49AD-63FD6887C0C2}"/>
              </a:ext>
            </a:extLst>
          </p:cNvPr>
          <p:cNvSpPr txBox="1"/>
          <p:nvPr/>
        </p:nvSpPr>
        <p:spPr>
          <a:xfrm>
            <a:off x="54697" y="4025889"/>
            <a:ext cx="3510616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b="1">
                <a:ea typeface="Calibri"/>
                <a:cs typeface="Calibri"/>
              </a:rPr>
              <a:t>Công </a:t>
            </a:r>
            <a:r>
              <a:rPr lang="en-US" b="1" err="1">
                <a:ea typeface="Calibri"/>
                <a:cs typeface="Calibri"/>
              </a:rPr>
              <a:t>thức</a:t>
            </a:r>
            <a:r>
              <a:rPr lang="en-US" b="1">
                <a:ea typeface="Calibri"/>
                <a:cs typeface="Calibri"/>
              </a:rPr>
              <a:t>:</a:t>
            </a:r>
          </a:p>
        </p:txBody>
      </p:sp>
      <p:pic>
        <p:nvPicPr>
          <p:cNvPr id="10" name="Picture 9" descr="A black text with a line&#10;&#10;AI-generated content may be incorrect.">
            <a:extLst>
              <a:ext uri="{FF2B5EF4-FFF2-40B4-BE49-F238E27FC236}">
                <a16:creationId xmlns:a16="http://schemas.microsoft.com/office/drawing/2014/main" id="{E3E26D74-3D6C-FE16-C88B-96ED4158A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102" y="4665001"/>
            <a:ext cx="2876550" cy="771525"/>
          </a:xfrm>
          <a:prstGeom prst="rect">
            <a:avLst/>
          </a:prstGeom>
        </p:spPr>
      </p:pic>
      <p:pic>
        <p:nvPicPr>
          <p:cNvPr id="3" name="Picture 2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D75A2479-3EA4-64D6-B419-FA42B4D65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282" y="1099870"/>
            <a:ext cx="4354802" cy="169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42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8C9A8-1E76-6F31-6A19-8FB774B12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8AA44-8D9E-1526-7FDB-D4DBE2557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2.2</a:t>
            </a:r>
            <a:r>
              <a:rPr lang="vi-VN">
                <a:cs typeface="Arial"/>
              </a:rPr>
              <a:t>. T</a:t>
            </a:r>
            <a:r>
              <a:rPr lang="en-US">
                <a:cs typeface="Arial"/>
              </a:rPr>
              <a:t>X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671FF-F691-9907-4406-AAEFBDE3AA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83402-6A13-CA7A-4CDA-0D85F62EA4B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/>
          <a:p>
            <a:fld id="{BC5E724D-DA7E-4546-8132-46D68F55BC8E}" type="datetime1">
              <a:rPr lang="vi-VN" smtClean="0"/>
              <a:t>08/11/2025</a:t>
            </a:fld>
            <a:endParaRPr lang="en-US"/>
          </a:p>
        </p:txBody>
      </p:sp>
      <p:pic>
        <p:nvPicPr>
          <p:cNvPr id="6" name="Picture 5" descr="A rectangular object with a black background&#10;&#10;AI-generated content may be incorrect.">
            <a:extLst>
              <a:ext uri="{FF2B5EF4-FFF2-40B4-BE49-F238E27FC236}">
                <a16:creationId xmlns:a16="http://schemas.microsoft.com/office/drawing/2014/main" id="{9B26F542-146A-01C9-E88E-839F18DD5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48" y="585922"/>
            <a:ext cx="3083416" cy="280450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497E78E-2FA6-8AEF-37F6-C75561C4F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274413"/>
              </p:ext>
            </p:extLst>
          </p:nvPr>
        </p:nvGraphicFramePr>
        <p:xfrm>
          <a:off x="4942267" y="587598"/>
          <a:ext cx="4109493" cy="436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797">
                  <a:extLst>
                    <a:ext uri="{9D8B030D-6E8A-4147-A177-3AD203B41FA5}">
                      <a16:colId xmlns:a16="http://schemas.microsoft.com/office/drawing/2014/main" val="518288278"/>
                    </a:ext>
                  </a:extLst>
                </a:gridCol>
                <a:gridCol w="658456">
                  <a:extLst>
                    <a:ext uri="{9D8B030D-6E8A-4147-A177-3AD203B41FA5}">
                      <a16:colId xmlns:a16="http://schemas.microsoft.com/office/drawing/2014/main" val="2019581707"/>
                    </a:ext>
                  </a:extLst>
                </a:gridCol>
                <a:gridCol w="533185">
                  <a:extLst>
                    <a:ext uri="{9D8B030D-6E8A-4147-A177-3AD203B41FA5}">
                      <a16:colId xmlns:a16="http://schemas.microsoft.com/office/drawing/2014/main" val="2209198202"/>
                    </a:ext>
                  </a:extLst>
                </a:gridCol>
                <a:gridCol w="2122055">
                  <a:extLst>
                    <a:ext uri="{9D8B030D-6E8A-4147-A177-3AD203B41FA5}">
                      <a16:colId xmlns:a16="http://schemas.microsoft.com/office/drawing/2014/main" val="3175709665"/>
                    </a:ext>
                  </a:extLst>
                </a:gridCol>
              </a:tblGrid>
              <a:tr h="318840">
                <a:tc>
                  <a:txBody>
                    <a:bodyPr/>
                    <a:lstStyle/>
                    <a:p>
                      <a:r>
                        <a:rPr lang="en-US" sz="1000"/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43159"/>
                  </a:ext>
                </a:extLst>
              </a:tr>
              <a:tr h="318840">
                <a:tc>
                  <a:txBody>
                    <a:bodyPr/>
                    <a:lstStyle/>
                    <a:p>
                      <a:r>
                        <a:rPr lang="en-US" sz="1000" err="1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clock </a:t>
                      </a:r>
                      <a:r>
                        <a:rPr lang="en-US" sz="1000" err="1"/>
                        <a:t>hệ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thống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502226"/>
                  </a:ext>
                </a:extLst>
              </a:tr>
              <a:tr h="318840">
                <a:tc>
                  <a:txBody>
                    <a:bodyPr/>
                    <a:lstStyle/>
                    <a:p>
                      <a:r>
                        <a:rPr lang="en-US" sz="1000" err="1"/>
                        <a:t>rst_n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reset </a:t>
                      </a:r>
                      <a:r>
                        <a:rPr lang="en-US" sz="1000" err="1"/>
                        <a:t>tích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cực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mức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thấp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274838"/>
                  </a:ext>
                </a:extLst>
              </a:tr>
              <a:tr h="318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tick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từ</a:t>
                      </a:r>
                      <a:r>
                        <a:rPr lang="en-US" sz="1000"/>
                        <a:t> baud generate </a:t>
                      </a:r>
                      <a:r>
                        <a:rPr lang="en-US" sz="1000" err="1"/>
                        <a:t>ra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để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điều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khiển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093373"/>
                  </a:ext>
                </a:extLst>
              </a:tr>
              <a:tr h="367893">
                <a:tc>
                  <a:txBody>
                    <a:bodyPr/>
                    <a:lstStyle/>
                    <a:p>
                      <a:r>
                        <a:rPr lang="en-US" sz="1000" err="1"/>
                        <a:t>data_bit_num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để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giải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mã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ra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số</a:t>
                      </a:r>
                      <a:r>
                        <a:rPr lang="en-US" sz="1000"/>
                        <a:t> bit </a:t>
                      </a:r>
                      <a:r>
                        <a:rPr lang="en-US" sz="1000" err="1"/>
                        <a:t>của</a:t>
                      </a:r>
                      <a:r>
                        <a:rPr lang="en-US" sz="1000"/>
                        <a:t>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774932"/>
                  </a:ext>
                </a:extLst>
              </a:tr>
              <a:tr h="367893">
                <a:tc>
                  <a:txBody>
                    <a:bodyPr/>
                    <a:lstStyle/>
                    <a:p>
                      <a:r>
                        <a:rPr lang="en-US" sz="1000" err="1"/>
                        <a:t>stop_bit_num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Tín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hiệu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để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giải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mã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ra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số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bit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của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stop</a:t>
                      </a:r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15237"/>
                  </a:ext>
                </a:extLst>
              </a:tr>
              <a:tr h="367893">
                <a:tc>
                  <a:txBody>
                    <a:bodyPr/>
                    <a:lstStyle/>
                    <a:p>
                      <a:r>
                        <a:rPr lang="en-US" sz="1000" err="1"/>
                        <a:t>parity_en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báo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có</a:t>
                      </a:r>
                      <a:r>
                        <a:rPr lang="en-US" sz="1000"/>
                        <a:t> parity bit hay </a:t>
                      </a:r>
                      <a:r>
                        <a:rPr lang="en-US" sz="1000" err="1"/>
                        <a:t>không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56560"/>
                  </a:ext>
                </a:extLst>
              </a:tr>
              <a:tr h="318840">
                <a:tc>
                  <a:txBody>
                    <a:bodyPr/>
                    <a:lstStyle/>
                    <a:p>
                      <a:r>
                        <a:rPr lang="en-US" sz="1000" err="1"/>
                        <a:t>tx_data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Data </a:t>
                      </a:r>
                      <a:r>
                        <a:rPr lang="en-US" sz="1000" err="1"/>
                        <a:t>cần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truyền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ra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chân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tx</a:t>
                      </a:r>
                      <a:r>
                        <a:rPr lang="en-US" sz="1000"/>
                        <a:t> </a:t>
                      </a:r>
                      <a:endParaRPr lang="en-US" sz="100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194331"/>
                  </a:ext>
                </a:extLst>
              </a:tr>
              <a:tr h="318840">
                <a:tc>
                  <a:txBody>
                    <a:bodyPr/>
                    <a:lstStyle/>
                    <a:p>
                      <a:r>
                        <a:rPr lang="en-US" sz="1000" err="1"/>
                        <a:t>start_tx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bắt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đầu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truyền</a:t>
                      </a:r>
                      <a:r>
                        <a:rPr lang="en-US" sz="1000"/>
                        <a:t>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057805"/>
                  </a:ext>
                </a:extLst>
              </a:tr>
              <a:tr h="36789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tx_done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báo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đã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truyền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xong</a:t>
                      </a:r>
                      <a:r>
                        <a:rPr lang="en-US" sz="1000"/>
                        <a:t> 1 transaction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629638"/>
                  </a:ext>
                </a:extLst>
              </a:tr>
              <a:tr h="318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Chân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ra</a:t>
                      </a:r>
                      <a:r>
                        <a:rPr lang="en-US" sz="1000"/>
                        <a:t> data </a:t>
                      </a:r>
                      <a:r>
                        <a:rPr lang="en-US" sz="1000" err="1"/>
                        <a:t>nối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tiếp</a:t>
                      </a:r>
                      <a:r>
                        <a:rPr lang="en-US" sz="1000"/>
                        <a:t> </a:t>
                      </a:r>
                      <a:endParaRPr lang="en-US" sz="100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257802"/>
                  </a:ext>
                </a:extLst>
              </a:tr>
              <a:tr h="318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cts_n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bắt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tay</a:t>
                      </a:r>
                      <a:r>
                        <a:rPr lang="en-US" sz="1000"/>
                        <a:t> clear-to-send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92148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BAB8283-263C-2416-1C0A-8E94F31744D5}"/>
              </a:ext>
            </a:extLst>
          </p:cNvPr>
          <p:cNvSpPr txBox="1"/>
          <p:nvPr/>
        </p:nvSpPr>
        <p:spPr>
          <a:xfrm>
            <a:off x="4939645" y="5018858"/>
            <a:ext cx="4455333" cy="175432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err="1">
                <a:latin typeface="Times New Roman"/>
                <a:ea typeface="Calibri"/>
                <a:cs typeface="Times New Roman"/>
              </a:rPr>
              <a:t>Chức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năng</a:t>
            </a:r>
            <a:r>
              <a:rPr lang="en-US">
                <a:latin typeface="Times New Roman"/>
                <a:ea typeface="Calibri"/>
                <a:cs typeface="Times New Roman"/>
              </a:rPr>
              <a:t>: 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latin typeface="Times New Roman"/>
                <a:ea typeface="Calibri"/>
                <a:cs typeface="Times New Roman"/>
              </a:rPr>
              <a:t>Các </a:t>
            </a:r>
            <a:r>
              <a:rPr lang="en-US" err="1">
                <a:latin typeface="Times New Roman"/>
                <a:ea typeface="Calibri"/>
                <a:cs typeface="Times New Roman"/>
              </a:rPr>
              <a:t>tín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hiệu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đầu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vào</a:t>
            </a:r>
            <a:r>
              <a:rPr lang="en-US">
                <a:latin typeface="Times New Roman"/>
                <a:ea typeface="Calibri"/>
                <a:cs typeface="Times New Roman"/>
              </a:rPr>
              <a:t> config </a:t>
            </a:r>
            <a:r>
              <a:rPr lang="en-US" err="1">
                <a:latin typeface="Times New Roman"/>
                <a:ea typeface="Calibri"/>
                <a:cs typeface="Times New Roman"/>
              </a:rPr>
              <a:t>và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b="1" err="1">
                <a:latin typeface="Times New Roman"/>
                <a:ea typeface="Calibri"/>
                <a:cs typeface="Times New Roman"/>
              </a:rPr>
              <a:t>tx_data</a:t>
            </a:r>
            <a:r>
              <a:rPr lang="en-US" b="1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có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nghĩa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khi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có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b="1" err="1">
                <a:latin typeface="Times New Roman"/>
                <a:ea typeface="Calibri"/>
                <a:cs typeface="Times New Roman"/>
              </a:rPr>
              <a:t>start_tx</a:t>
            </a:r>
            <a:r>
              <a:rPr lang="en-US" b="1">
                <a:latin typeface="Times New Roman"/>
                <a:ea typeface="Calibri"/>
                <a:cs typeface="Times New Roman"/>
              </a:rPr>
              <a:t> =1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và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b="1" err="1">
                <a:latin typeface="Times New Roman"/>
                <a:ea typeface="Calibri"/>
                <a:cs typeface="Times New Roman"/>
              </a:rPr>
              <a:t>cts_n</a:t>
            </a:r>
            <a:r>
              <a:rPr lang="en-US" b="1">
                <a:latin typeface="Times New Roman"/>
                <a:ea typeface="Calibri"/>
                <a:cs typeface="Times New Roman"/>
              </a:rPr>
              <a:t> = 0</a:t>
            </a:r>
            <a:r>
              <a:rPr lang="en-US">
                <a:latin typeface="Times New Roman"/>
                <a:ea typeface="Calibri"/>
                <a:cs typeface="Times New Roman"/>
              </a:rPr>
              <a:t> =&gt; </a:t>
            </a:r>
            <a:r>
              <a:rPr lang="en-US" err="1">
                <a:latin typeface="Times New Roman"/>
                <a:ea typeface="Calibri"/>
                <a:cs typeface="Times New Roman"/>
              </a:rPr>
              <a:t>bắt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đầu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truyền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endParaRPr lang="en-US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>
                <a:latin typeface="Times New Roman"/>
                <a:ea typeface="Calibri"/>
                <a:cs typeface="Times New Roman"/>
              </a:rPr>
              <a:t>Data </a:t>
            </a:r>
            <a:r>
              <a:rPr lang="en-US" err="1">
                <a:latin typeface="Times New Roman"/>
                <a:ea typeface="Calibri"/>
                <a:cs typeface="Times New Roman"/>
              </a:rPr>
              <a:t>sẽ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được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ra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nối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tiếp</a:t>
            </a:r>
            <a:r>
              <a:rPr lang="en-US">
                <a:latin typeface="Times New Roman"/>
                <a:ea typeface="Calibri"/>
                <a:cs typeface="Times New Roman"/>
              </a:rPr>
              <a:t> qua </a:t>
            </a:r>
            <a:r>
              <a:rPr lang="en-US" b="1" err="1">
                <a:latin typeface="Times New Roman"/>
                <a:ea typeface="Calibri"/>
                <a:cs typeface="Times New Roman"/>
              </a:rPr>
              <a:t>tx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latin typeface="Times New Roman"/>
                <a:ea typeface="Calibri"/>
                <a:cs typeface="Times New Roman"/>
              </a:rPr>
              <a:t>Khi </a:t>
            </a:r>
            <a:r>
              <a:rPr lang="en-US" err="1">
                <a:latin typeface="Times New Roman"/>
                <a:ea typeface="Calibri"/>
                <a:cs typeface="Times New Roman"/>
              </a:rPr>
              <a:t>nào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kết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thúc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truyền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b="1" err="1">
                <a:latin typeface="Times New Roman"/>
                <a:ea typeface="Calibri"/>
                <a:cs typeface="Times New Roman"/>
              </a:rPr>
              <a:t>tx_done</a:t>
            </a:r>
            <a:r>
              <a:rPr lang="en-US" b="1">
                <a:latin typeface="Times New Roman"/>
                <a:ea typeface="Calibri"/>
                <a:cs typeface="Times New Roman"/>
              </a:rPr>
              <a:t> =1</a:t>
            </a:r>
          </a:p>
        </p:txBody>
      </p:sp>
      <p:pic>
        <p:nvPicPr>
          <p:cNvPr id="10" name="Picture 9" descr="A diagram of a diagram&#10;&#10;AI-generated content may be incorrect.">
            <a:extLst>
              <a:ext uri="{FF2B5EF4-FFF2-40B4-BE49-F238E27FC236}">
                <a16:creationId xmlns:a16="http://schemas.microsoft.com/office/drawing/2014/main" id="{7013B3B1-F272-9AFE-8AAC-569B508CE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952" y="3494937"/>
            <a:ext cx="4552412" cy="303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1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DBB3B-B166-62E9-6B12-2E090154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9ABDE-1B55-C6B1-E163-7583C766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2.2</a:t>
            </a:r>
            <a:r>
              <a:rPr lang="vi-VN">
                <a:cs typeface="Arial"/>
              </a:rPr>
              <a:t>. T</a:t>
            </a:r>
            <a:r>
              <a:rPr lang="en-US">
                <a:cs typeface="Arial"/>
              </a:rPr>
              <a:t>X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F4CD9-C2F4-EE8A-2F66-892135018C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EA8D1-C52A-73CE-94AF-25CE2521151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/>
          <a:p>
            <a:fld id="{BC5E724D-DA7E-4546-8132-46D68F55BC8E}" type="datetime1">
              <a:rPr lang="vi-VN" smtClean="0"/>
              <a:t>08/11/2025</a:t>
            </a:fld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32C64C9-0837-912E-50D9-EA75B5CBAC81}"/>
              </a:ext>
            </a:extLst>
          </p:cNvPr>
          <p:cNvSpPr txBox="1"/>
          <p:nvPr/>
        </p:nvSpPr>
        <p:spPr>
          <a:xfrm>
            <a:off x="6324124" y="1042506"/>
            <a:ext cx="2434961" cy="120032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Ví</a:t>
            </a:r>
            <a:r>
              <a:rPr lang="en-US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dụ</a:t>
            </a:r>
            <a:r>
              <a:rPr lang="en-US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về</a:t>
            </a:r>
            <a:r>
              <a:rPr lang="en-US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data frame 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5 bit data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 bit parity 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 bit stop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D6607C3-29FB-C84F-13DF-FEACA016C154}"/>
              </a:ext>
            </a:extLst>
          </p:cNvPr>
          <p:cNvSpPr txBox="1"/>
          <p:nvPr/>
        </p:nvSpPr>
        <p:spPr>
          <a:xfrm>
            <a:off x="-76667" y="3042919"/>
            <a:ext cx="3928246" cy="203132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4 State </a:t>
            </a:r>
            <a:r>
              <a:rPr lang="en-US" err="1">
                <a:ea typeface="Calibri"/>
                <a:cs typeface="Calibri"/>
              </a:rPr>
              <a:t>chính</a:t>
            </a:r>
            <a:endParaRPr lang="en-US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ea typeface="Calibri"/>
                <a:cs typeface="Calibri"/>
              </a:rPr>
              <a:t>IDLE</a:t>
            </a:r>
            <a:r>
              <a:rPr lang="en-US">
                <a:ea typeface="Calibri"/>
                <a:cs typeface="Calibri"/>
              </a:rPr>
              <a:t>: </a:t>
            </a:r>
            <a:r>
              <a:rPr lang="en-US" err="1">
                <a:ea typeface="Calibri"/>
                <a:cs typeface="Calibri"/>
              </a:rPr>
              <a:t>Không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truyền</a:t>
            </a:r>
            <a:endParaRPr lang="en-US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b="1">
                <a:ea typeface="Calibri"/>
                <a:cs typeface="Calibri"/>
              </a:rPr>
              <a:t>START</a:t>
            </a:r>
            <a:r>
              <a:rPr lang="en-US">
                <a:ea typeface="Calibri"/>
                <a:cs typeface="Calibri"/>
              </a:rPr>
              <a:t>: </a:t>
            </a:r>
            <a:r>
              <a:rPr lang="en-US" err="1">
                <a:ea typeface="Calibri"/>
                <a:cs typeface="Calibri"/>
              </a:rPr>
              <a:t>truyền</a:t>
            </a:r>
            <a:r>
              <a:rPr lang="en-US">
                <a:ea typeface="Calibri"/>
                <a:cs typeface="Calibri"/>
              </a:rPr>
              <a:t> bit start </a:t>
            </a:r>
          </a:p>
          <a:p>
            <a:pPr marL="742950" lvl="1" indent="-285750">
              <a:buFont typeface="Courier New"/>
              <a:buChar char="o"/>
            </a:pPr>
            <a:r>
              <a:rPr lang="en-US" b="1">
                <a:ea typeface="Calibri"/>
                <a:cs typeface="Calibri"/>
              </a:rPr>
              <a:t>DATA</a:t>
            </a:r>
            <a:r>
              <a:rPr lang="en-US">
                <a:ea typeface="Calibri"/>
                <a:cs typeface="Calibri"/>
              </a:rPr>
              <a:t>: </a:t>
            </a:r>
            <a:r>
              <a:rPr lang="en-US" err="1">
                <a:ea typeface="Calibri"/>
                <a:cs typeface="Calibri"/>
              </a:rPr>
              <a:t>Truyền</a:t>
            </a:r>
            <a:r>
              <a:rPr lang="en-US">
                <a:ea typeface="Calibri"/>
                <a:cs typeface="Calibri"/>
              </a:rPr>
              <a:t> bit data + parity </a:t>
            </a:r>
          </a:p>
          <a:p>
            <a:pPr marL="742950" lvl="1" indent="-285750">
              <a:buFont typeface="Courier New"/>
              <a:buChar char="o"/>
            </a:pPr>
            <a:r>
              <a:rPr lang="en-US" b="1">
                <a:ea typeface="Calibri"/>
                <a:cs typeface="Calibri"/>
              </a:rPr>
              <a:t>STOP</a:t>
            </a:r>
            <a:r>
              <a:rPr lang="en-US">
                <a:ea typeface="Calibri"/>
                <a:cs typeface="Calibri"/>
              </a:rPr>
              <a:t>: </a:t>
            </a:r>
            <a:r>
              <a:rPr lang="en-US" err="1">
                <a:ea typeface="Calibri"/>
                <a:cs typeface="Calibri"/>
              </a:rPr>
              <a:t>Truyền</a:t>
            </a:r>
            <a:r>
              <a:rPr lang="en-US">
                <a:ea typeface="Calibri"/>
                <a:cs typeface="Calibri"/>
              </a:rPr>
              <a:t> bit stop</a:t>
            </a:r>
          </a:p>
          <a:p>
            <a:pPr marL="742950" lvl="1" indent="-285750">
              <a:buFont typeface="Courier New"/>
              <a:buChar char="o"/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44234A-4848-9E7F-3A0C-CE42A56E7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285" y="2702960"/>
            <a:ext cx="5779603" cy="3981035"/>
          </a:xfrm>
          <a:prstGeom prst="rect">
            <a:avLst/>
          </a:prstGeom>
        </p:spPr>
      </p:pic>
      <p:pic>
        <p:nvPicPr>
          <p:cNvPr id="9" name="Picture 8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A26684A6-539C-29D6-DCDF-0DD367AA2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833" y="610014"/>
            <a:ext cx="5678970" cy="243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47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9E91D-76C0-C2FC-C563-09B1AF48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8814-8799-361E-F6B4-1A965E2DA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2.3</a:t>
            </a:r>
            <a:r>
              <a:rPr lang="vi-VN">
                <a:cs typeface="Arial"/>
              </a:rPr>
              <a:t>. R</a:t>
            </a:r>
            <a:r>
              <a:rPr lang="en-US">
                <a:cs typeface="Arial"/>
              </a:rPr>
              <a:t>X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E90CE-C688-6323-7FC5-2B4E0A2012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1E723-CA86-EDD4-16A5-83C0C432E96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76200" y="6579393"/>
            <a:ext cx="2590800" cy="236537"/>
          </a:xfrm>
          <a:prstGeom prst="rect">
            <a:avLst/>
          </a:prstGeom>
        </p:spPr>
        <p:txBody>
          <a:bodyPr/>
          <a:lstStyle/>
          <a:p>
            <a:fld id="{BC5E724D-DA7E-4546-8132-46D68F55BC8E}" type="datetime1">
              <a:rPr lang="vi-VN" smtClean="0"/>
              <a:t>08/11/2025</a:t>
            </a:fld>
            <a:endParaRPr lang="en-US"/>
          </a:p>
        </p:txBody>
      </p:sp>
      <p:pic>
        <p:nvPicPr>
          <p:cNvPr id="6" name="Picture 5" descr="A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34A4EE5F-7B56-2C07-631E-6248D6EFC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786" y="593971"/>
            <a:ext cx="3362994" cy="2925247"/>
          </a:xfrm>
          <a:prstGeom prst="rect">
            <a:avLst/>
          </a:prstGeom>
        </p:spPr>
      </p:pic>
      <p:pic>
        <p:nvPicPr>
          <p:cNvPr id="7" name="Picture 6" descr="A diagram of a number of numbers&#10;&#10;AI-generated content may be incorrect.">
            <a:extLst>
              <a:ext uri="{FF2B5EF4-FFF2-40B4-BE49-F238E27FC236}">
                <a16:creationId xmlns:a16="http://schemas.microsoft.com/office/drawing/2014/main" id="{286AAB67-FC46-1F48-8AA9-2D4A44567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" y="4242315"/>
            <a:ext cx="4408330" cy="2116294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C1B51A-AC05-008C-5046-23CD7D7D9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239909"/>
              </p:ext>
            </p:extLst>
          </p:nvPr>
        </p:nvGraphicFramePr>
        <p:xfrm>
          <a:off x="3364605" y="595647"/>
          <a:ext cx="5569019" cy="3469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254">
                  <a:extLst>
                    <a:ext uri="{9D8B030D-6E8A-4147-A177-3AD203B41FA5}">
                      <a16:colId xmlns:a16="http://schemas.microsoft.com/office/drawing/2014/main" val="518288278"/>
                    </a:ext>
                  </a:extLst>
                </a:gridCol>
                <a:gridCol w="668927">
                  <a:extLst>
                    <a:ext uri="{9D8B030D-6E8A-4147-A177-3AD203B41FA5}">
                      <a16:colId xmlns:a16="http://schemas.microsoft.com/office/drawing/2014/main" val="2019581707"/>
                    </a:ext>
                  </a:extLst>
                </a:gridCol>
                <a:gridCol w="622586">
                  <a:extLst>
                    <a:ext uri="{9D8B030D-6E8A-4147-A177-3AD203B41FA5}">
                      <a16:colId xmlns:a16="http://schemas.microsoft.com/office/drawing/2014/main" val="2209198202"/>
                    </a:ext>
                  </a:extLst>
                </a:gridCol>
                <a:gridCol w="2885252">
                  <a:extLst>
                    <a:ext uri="{9D8B030D-6E8A-4147-A177-3AD203B41FA5}">
                      <a16:colId xmlns:a16="http://schemas.microsoft.com/office/drawing/2014/main" val="3175709665"/>
                    </a:ext>
                  </a:extLst>
                </a:gridCol>
              </a:tblGrid>
              <a:tr h="349183">
                <a:tc>
                  <a:txBody>
                    <a:bodyPr/>
                    <a:lstStyle/>
                    <a:p>
                      <a:r>
                        <a:rPr lang="en-US" sz="1000"/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143159"/>
                  </a:ext>
                </a:extLst>
              </a:tr>
              <a:tr h="279346">
                <a:tc>
                  <a:txBody>
                    <a:bodyPr/>
                    <a:lstStyle/>
                    <a:p>
                      <a:r>
                        <a:rPr lang="en-US" sz="1000" err="1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clock </a:t>
                      </a:r>
                      <a:r>
                        <a:rPr lang="en-US" sz="1000" err="1"/>
                        <a:t>hệ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thống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502226"/>
                  </a:ext>
                </a:extLst>
              </a:tr>
              <a:tr h="279346">
                <a:tc>
                  <a:txBody>
                    <a:bodyPr/>
                    <a:lstStyle/>
                    <a:p>
                      <a:r>
                        <a:rPr lang="en-US" sz="1000" err="1"/>
                        <a:t>rst_n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reset </a:t>
                      </a:r>
                      <a:r>
                        <a:rPr lang="en-US" sz="1000" err="1"/>
                        <a:t>tích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cực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mức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thấp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274838"/>
                  </a:ext>
                </a:extLst>
              </a:tr>
              <a:tr h="3491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tick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Tín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hiệu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từ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baud generate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ra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để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điều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0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khiển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919089"/>
                  </a:ext>
                </a:extLst>
              </a:tr>
              <a:tr h="279346">
                <a:tc>
                  <a:txBody>
                    <a:bodyPr/>
                    <a:lstStyle/>
                    <a:p>
                      <a:r>
                        <a:rPr lang="en-US" sz="1000" err="1"/>
                        <a:t>data_bit_num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Số</a:t>
                      </a:r>
                      <a:r>
                        <a:rPr lang="en-US" sz="1000"/>
                        <a:t> bit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774932"/>
                  </a:ext>
                </a:extLst>
              </a:tr>
              <a:tr h="279346">
                <a:tc>
                  <a:txBody>
                    <a:bodyPr/>
                    <a:lstStyle/>
                    <a:p>
                      <a:r>
                        <a:rPr lang="en-US" sz="1000" err="1"/>
                        <a:t>stop_bit_num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Số</a:t>
                      </a:r>
                      <a:r>
                        <a:rPr lang="en-US" sz="1000"/>
                        <a:t> bit stop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15237"/>
                  </a:ext>
                </a:extLst>
              </a:tr>
              <a:tr h="279346">
                <a:tc>
                  <a:txBody>
                    <a:bodyPr/>
                    <a:lstStyle/>
                    <a:p>
                      <a:r>
                        <a:rPr lang="en-US" sz="1000" err="1"/>
                        <a:t>parity_en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báo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có</a:t>
                      </a:r>
                      <a:r>
                        <a:rPr lang="en-US" sz="1000"/>
                        <a:t> parity bit hay </a:t>
                      </a:r>
                      <a:r>
                        <a:rPr lang="en-US" sz="1000" err="1"/>
                        <a:t>không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56560"/>
                  </a:ext>
                </a:extLst>
              </a:tr>
              <a:tr h="3491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rx_data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Data </a:t>
                      </a:r>
                      <a:r>
                        <a:rPr lang="en-US" sz="1000" err="1"/>
                        <a:t>nhận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được</a:t>
                      </a:r>
                      <a:r>
                        <a:rPr lang="en-US" sz="1000"/>
                        <a:t> qua </a:t>
                      </a:r>
                      <a:r>
                        <a:rPr lang="en-US" sz="1000" err="1"/>
                        <a:t>chân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rx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672343"/>
                  </a:ext>
                </a:extLst>
              </a:tr>
              <a:tr h="3491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rx_done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báo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rx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đã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nhận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xong</a:t>
                      </a:r>
                      <a:r>
                        <a:rPr lang="en-US" sz="1000"/>
                        <a:t>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61111"/>
                  </a:ext>
                </a:extLst>
              </a:tr>
              <a:tr h="27934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Chân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nhận</a:t>
                      </a:r>
                      <a:r>
                        <a:rPr lang="en-US" sz="1000"/>
                        <a:t> data </a:t>
                      </a:r>
                      <a:r>
                        <a:rPr lang="en-US" sz="1000" err="1"/>
                        <a:t>nối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tiếp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193130"/>
                  </a:ext>
                </a:extLst>
              </a:tr>
              <a:tr h="3491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rts_n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err="1"/>
                        <a:t>Tín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hiệu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bắt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tay</a:t>
                      </a:r>
                      <a:r>
                        <a:rPr lang="en-US" sz="1000"/>
                        <a:t> request-to-send 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5971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D9058EB-FA2B-8E9E-1B0A-D7BE2EE39461}"/>
              </a:ext>
            </a:extLst>
          </p:cNvPr>
          <p:cNvSpPr txBox="1"/>
          <p:nvPr/>
        </p:nvSpPr>
        <p:spPr>
          <a:xfrm>
            <a:off x="4480835" y="4246126"/>
            <a:ext cx="4777304" cy="230832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err="1">
                <a:latin typeface="Times New Roman"/>
                <a:ea typeface="Calibri"/>
                <a:cs typeface="Times New Roman"/>
              </a:rPr>
              <a:t>Chức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năng</a:t>
            </a:r>
            <a:r>
              <a:rPr lang="en-US">
                <a:latin typeface="Times New Roman"/>
                <a:ea typeface="Calibri"/>
                <a:cs typeface="Times New Roman"/>
              </a:rPr>
              <a:t>: 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latin typeface="Times New Roman"/>
                <a:ea typeface="Calibri"/>
                <a:cs typeface="Times New Roman"/>
              </a:rPr>
              <a:t>RX </a:t>
            </a:r>
            <a:r>
              <a:rPr lang="en-US" err="1">
                <a:latin typeface="Times New Roman"/>
                <a:ea typeface="Calibri"/>
                <a:cs typeface="Times New Roman"/>
              </a:rPr>
              <a:t>bắt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đầu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nhận</a:t>
            </a:r>
            <a:r>
              <a:rPr lang="en-US">
                <a:latin typeface="Times New Roman"/>
                <a:ea typeface="Calibri"/>
                <a:cs typeface="Times New Roman"/>
              </a:rPr>
              <a:t> data </a:t>
            </a:r>
            <a:r>
              <a:rPr lang="en-US" err="1">
                <a:latin typeface="Times New Roman"/>
                <a:ea typeface="Calibri"/>
                <a:cs typeface="Times New Roman"/>
              </a:rPr>
              <a:t>khi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đang</a:t>
            </a:r>
            <a:r>
              <a:rPr lang="en-US">
                <a:latin typeface="Times New Roman"/>
                <a:ea typeface="Calibri"/>
                <a:cs typeface="Times New Roman"/>
              </a:rPr>
              <a:t> ở </a:t>
            </a:r>
            <a:r>
              <a:rPr lang="en-US" err="1">
                <a:latin typeface="Times New Roman"/>
                <a:ea typeface="Calibri"/>
                <a:cs typeface="Times New Roman"/>
              </a:rPr>
              <a:t>trạng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thái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b="1">
                <a:latin typeface="Times New Roman"/>
                <a:ea typeface="Calibri"/>
                <a:cs typeface="Times New Roman"/>
              </a:rPr>
              <a:t>IDLE </a:t>
            </a:r>
            <a:r>
              <a:rPr lang="en-US" err="1">
                <a:latin typeface="Times New Roman"/>
                <a:ea typeface="Calibri"/>
                <a:cs typeface="Times New Roman"/>
              </a:rPr>
              <a:t>và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b="1" err="1">
                <a:latin typeface="Times New Roman"/>
                <a:ea typeface="Calibri"/>
                <a:cs typeface="Times New Roman"/>
              </a:rPr>
              <a:t>rx</a:t>
            </a:r>
            <a:r>
              <a:rPr lang="en-US" b="1">
                <a:latin typeface="Times New Roman"/>
                <a:ea typeface="Calibri"/>
                <a:cs typeface="Times New Roman"/>
              </a:rPr>
              <a:t> </a:t>
            </a:r>
            <a:r>
              <a:rPr lang="en-US">
                <a:latin typeface="Times New Roman"/>
                <a:ea typeface="Calibri"/>
                <a:cs typeface="Times New Roman"/>
              </a:rPr>
              <a:t>= 0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latin typeface="Times New Roman"/>
                <a:ea typeface="Calibri"/>
                <a:cs typeface="Times New Roman"/>
              </a:rPr>
              <a:t>Các data </a:t>
            </a:r>
            <a:r>
              <a:rPr lang="en-US" err="1">
                <a:latin typeface="Times New Roman"/>
                <a:ea typeface="Calibri"/>
                <a:cs typeface="Times New Roman"/>
              </a:rPr>
              <a:t>từ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chân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b="1" err="1">
                <a:latin typeface="Times New Roman"/>
                <a:ea typeface="Calibri"/>
                <a:cs typeface="Times New Roman"/>
              </a:rPr>
              <a:t>rx</a:t>
            </a:r>
            <a:r>
              <a:rPr lang="en-US" b="1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nhận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vào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sẽ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được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lưu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vào</a:t>
            </a:r>
            <a:r>
              <a:rPr lang="en-US">
                <a:latin typeface="Times New Roman"/>
                <a:ea typeface="Calibri"/>
                <a:cs typeface="Times New Roman"/>
              </a:rPr>
              <a:t> 1 </a:t>
            </a:r>
            <a:r>
              <a:rPr lang="en-US" err="1">
                <a:latin typeface="Times New Roman"/>
                <a:ea typeface="Calibri"/>
                <a:cs typeface="Times New Roman"/>
              </a:rPr>
              <a:t>thanh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ghi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b="1" err="1">
                <a:latin typeface="Times New Roman"/>
                <a:ea typeface="Calibri"/>
                <a:cs typeface="Times New Roman"/>
              </a:rPr>
              <a:t>rx_data</a:t>
            </a:r>
            <a:r>
              <a:rPr lang="en-US">
                <a:latin typeface="Times New Roman"/>
                <a:ea typeface="Calibri"/>
                <a:cs typeface="Times New Roman"/>
              </a:rPr>
              <a:t> ở </a:t>
            </a:r>
            <a:r>
              <a:rPr lang="en-US" err="1">
                <a:latin typeface="Times New Roman"/>
                <a:ea typeface="Calibri"/>
                <a:cs typeface="Times New Roman"/>
              </a:rPr>
              <a:t>bên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trong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</a:p>
          <a:p>
            <a:pPr marL="742950" lvl="1" indent="-285750">
              <a:buFont typeface="Courier New"/>
              <a:buChar char="o"/>
            </a:pPr>
            <a:r>
              <a:rPr lang="en-US">
                <a:latin typeface="Times New Roman"/>
                <a:ea typeface="Calibri"/>
                <a:cs typeface="Times New Roman"/>
              </a:rPr>
              <a:t>Khi </a:t>
            </a:r>
            <a:r>
              <a:rPr lang="en-US" err="1">
                <a:latin typeface="Times New Roman"/>
                <a:ea typeface="Calibri"/>
                <a:cs typeface="Times New Roman"/>
              </a:rPr>
              <a:t>nào</a:t>
            </a:r>
            <a:r>
              <a:rPr lang="en-US">
                <a:latin typeface="Times New Roman"/>
                <a:ea typeface="Calibri"/>
                <a:cs typeface="Times New Roman"/>
              </a:rPr>
              <a:t> RX </a:t>
            </a:r>
            <a:r>
              <a:rPr lang="en-US" err="1">
                <a:latin typeface="Times New Roman"/>
                <a:ea typeface="Calibri"/>
                <a:cs typeface="Times New Roman"/>
              </a:rPr>
              <a:t>nhận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xong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thì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tín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hiệu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b="1" err="1">
                <a:latin typeface="Times New Roman"/>
                <a:ea typeface="Calibri"/>
                <a:cs typeface="Times New Roman"/>
              </a:rPr>
              <a:t>rx_done</a:t>
            </a:r>
            <a:r>
              <a:rPr lang="en-US" b="1">
                <a:latin typeface="Times New Roman"/>
                <a:ea typeface="Calibri"/>
                <a:cs typeface="Times New Roman"/>
              </a:rPr>
              <a:t> = 1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và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b="1" err="1">
                <a:latin typeface="Times New Roman"/>
                <a:ea typeface="Calibri"/>
                <a:cs typeface="Times New Roman"/>
              </a:rPr>
              <a:t>rts_n</a:t>
            </a:r>
            <a:r>
              <a:rPr lang="en-US" b="1">
                <a:latin typeface="Times New Roman"/>
                <a:ea typeface="Calibri"/>
                <a:cs typeface="Times New Roman"/>
              </a:rPr>
              <a:t> = 0</a:t>
            </a:r>
          </a:p>
          <a:p>
            <a:pPr marL="742950" lvl="1" indent="-285750">
              <a:buFont typeface="Courier New"/>
              <a:buChar char="o"/>
            </a:pPr>
            <a:r>
              <a:rPr lang="en-US" err="1">
                <a:latin typeface="Times New Roman"/>
                <a:ea typeface="Calibri"/>
                <a:cs typeface="Times New Roman"/>
              </a:rPr>
              <a:t>Chân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b="1" err="1">
                <a:latin typeface="Times New Roman"/>
                <a:ea typeface="Calibri"/>
                <a:cs typeface="Times New Roman"/>
              </a:rPr>
              <a:t>parity_error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sẽ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kiểm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tra</a:t>
            </a:r>
            <a:r>
              <a:rPr lang="en-US">
                <a:latin typeface="Times New Roman"/>
                <a:ea typeface="Calibri"/>
                <a:cs typeface="Times New Roman"/>
              </a:rPr>
              <a:t> bit parity</a:t>
            </a:r>
          </a:p>
        </p:txBody>
      </p:sp>
    </p:spTree>
    <p:extLst>
      <p:ext uri="{BB962C8B-B14F-4D97-AF65-F5344CB8AC3E}">
        <p14:creationId xmlns:p14="http://schemas.microsoft.com/office/powerpoint/2010/main" val="1685704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86A5-A384-DEF2-D191-A1F52E77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2.3. RX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53F2A-4293-FC72-033A-6DB07A3F50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4831C5-0FCD-CCD7-95CA-6A51FEE09464}"/>
              </a:ext>
            </a:extLst>
          </p:cNvPr>
          <p:cNvSpPr txBox="1"/>
          <p:nvPr/>
        </p:nvSpPr>
        <p:spPr>
          <a:xfrm>
            <a:off x="716" y="1256264"/>
            <a:ext cx="7024237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buFont typeface="Calibri"/>
              <a:buChar char="-"/>
            </a:pPr>
            <a:r>
              <a:rPr lang="en-US">
                <a:latin typeface="Arial"/>
                <a:cs typeface="Arial"/>
              </a:rPr>
              <a:t>5 State: </a:t>
            </a:r>
            <a:endParaRPr lang="en-US">
              <a:cs typeface="Arial"/>
            </a:endParaRPr>
          </a:p>
          <a:p>
            <a:pPr marL="742950" lvl="1" indent="-285750" algn="l">
              <a:buFont typeface="Courier New"/>
              <a:buChar char="o"/>
            </a:pPr>
            <a:r>
              <a:rPr lang="en-US" b="1">
                <a:latin typeface="Arial"/>
                <a:cs typeface="Arial"/>
              </a:rPr>
              <a:t>IDLE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 err="1">
                <a:latin typeface="Arial"/>
                <a:cs typeface="Arial"/>
              </a:rPr>
              <a:t>Trạng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thái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nghỉ</a:t>
            </a:r>
            <a:r>
              <a:rPr lang="en-US">
                <a:latin typeface="Arial"/>
                <a:cs typeface="Arial"/>
              </a:rPr>
              <a:t>  </a:t>
            </a:r>
            <a:endParaRPr lang="en-US">
              <a:cs typeface="Arial"/>
            </a:endParaRPr>
          </a:p>
          <a:p>
            <a:pPr marL="742950" lvl="1" indent="-285750" algn="l">
              <a:buFont typeface="Courier New"/>
              <a:buChar char="o"/>
            </a:pPr>
            <a:r>
              <a:rPr lang="en-US" b="1">
                <a:latin typeface="Arial"/>
                <a:cs typeface="Arial"/>
              </a:rPr>
              <a:t>START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 err="1">
                <a:latin typeface="Arial"/>
                <a:cs typeface="Arial"/>
              </a:rPr>
              <a:t>Trạng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thái</a:t>
            </a:r>
            <a:r>
              <a:rPr lang="en-US">
                <a:latin typeface="Arial"/>
                <a:cs typeface="Arial"/>
              </a:rPr>
              <a:t> start 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 b="1">
                <a:latin typeface="Arial"/>
                <a:cs typeface="Arial"/>
              </a:rPr>
              <a:t>DATA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 err="1">
                <a:latin typeface="Arial"/>
                <a:cs typeface="Arial"/>
              </a:rPr>
              <a:t>Nhận</a:t>
            </a:r>
            <a:r>
              <a:rPr lang="en-US">
                <a:latin typeface="Arial"/>
                <a:cs typeface="Arial"/>
              </a:rPr>
              <a:t> bit data 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 b="1">
                <a:latin typeface="Arial"/>
                <a:cs typeface="Arial"/>
              </a:rPr>
              <a:t>PARITY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 err="1">
                <a:latin typeface="Arial"/>
                <a:cs typeface="Arial"/>
              </a:rPr>
              <a:t>Nhận</a:t>
            </a:r>
            <a:r>
              <a:rPr lang="en-US">
                <a:latin typeface="Arial"/>
                <a:cs typeface="Arial"/>
              </a:rPr>
              <a:t> bit parity </a:t>
            </a:r>
            <a:endParaRPr lang="en-US">
              <a:cs typeface="Arial"/>
            </a:endParaRPr>
          </a:p>
          <a:p>
            <a:pPr marL="742950" lvl="1" indent="-285750" algn="l">
              <a:buFont typeface="Courier New"/>
              <a:buChar char="o"/>
            </a:pPr>
            <a:r>
              <a:rPr lang="en-US" b="1">
                <a:latin typeface="Arial"/>
                <a:cs typeface="Arial"/>
              </a:rPr>
              <a:t>STOP</a:t>
            </a:r>
            <a:r>
              <a:rPr lang="en-US">
                <a:latin typeface="Arial"/>
                <a:cs typeface="Arial"/>
              </a:rPr>
              <a:t>: </a:t>
            </a:r>
            <a:r>
              <a:rPr lang="en-US" err="1">
                <a:latin typeface="Arial"/>
                <a:cs typeface="Arial"/>
              </a:rPr>
              <a:t>Nhận</a:t>
            </a:r>
            <a:r>
              <a:rPr lang="en-US">
                <a:latin typeface="Arial"/>
                <a:cs typeface="Arial"/>
              </a:rPr>
              <a:t> bit stop </a:t>
            </a:r>
            <a:endParaRPr lang="en-US">
              <a:cs typeface="Arial"/>
            </a:endParaRPr>
          </a:p>
          <a:p>
            <a:pPr algn="l"/>
            <a:endParaRPr lang="en-US">
              <a:cs typeface="Arial"/>
            </a:endParaRPr>
          </a:p>
        </p:txBody>
      </p:sp>
      <p:pic>
        <p:nvPicPr>
          <p:cNvPr id="3" name="Picture 2" descr="A diagram of data and a path&#10;&#10;AI-generated content may be incorrect.">
            <a:extLst>
              <a:ext uri="{FF2B5EF4-FFF2-40B4-BE49-F238E27FC236}">
                <a16:creationId xmlns:a16="http://schemas.microsoft.com/office/drawing/2014/main" id="{C0DDC886-3B5F-8BDE-1990-3811E1220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502" y="642694"/>
            <a:ext cx="4674013" cy="1862620"/>
          </a:xfrm>
          <a:prstGeom prst="rect">
            <a:avLst/>
          </a:prstGeom>
        </p:spPr>
      </p:pic>
      <p:pic>
        <p:nvPicPr>
          <p:cNvPr id="8" name="Content Placeholder 7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5CE4442C-8B72-BD89-64DE-9EB7B7E60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3036858" y="2267893"/>
            <a:ext cx="5912203" cy="4016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84855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30DE0-35EF-73ED-E6CD-787C2C6EE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3. Waveform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E651B-E05D-9058-89EC-9BEEAC1717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/>
              <a:pPr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1113B-55E4-05F8-6579-FE9B3383A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31" y="1607650"/>
            <a:ext cx="7761339" cy="3283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51E434-7211-C739-A787-8C3C4115DF54}"/>
              </a:ext>
            </a:extLst>
          </p:cNvPr>
          <p:cNvSpPr txBox="1"/>
          <p:nvPr/>
        </p:nvSpPr>
        <p:spPr>
          <a:xfrm>
            <a:off x="2486850" y="5155143"/>
            <a:ext cx="31172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"/>
                <a:cs typeface="Arial"/>
              </a:rPr>
              <a:t>Waveform </a:t>
            </a:r>
            <a:r>
              <a:rPr lang="en-US" err="1">
                <a:latin typeface="Arial"/>
                <a:cs typeface="Arial"/>
              </a:rPr>
              <a:t>tx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294004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F4C94-B5BE-E96B-F315-E13DBB532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68247-9006-0DAE-395C-9CD3E2C2D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3. Waveform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AAFEA-28CA-6B53-AE7D-4B4D37F586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/>
              <a:pPr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CD19B-CB9E-871E-3020-E198CB9153D2}"/>
              </a:ext>
            </a:extLst>
          </p:cNvPr>
          <p:cNvSpPr txBox="1"/>
          <p:nvPr/>
        </p:nvSpPr>
        <p:spPr>
          <a:xfrm>
            <a:off x="2486850" y="5155143"/>
            <a:ext cx="31172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Arial"/>
                <a:cs typeface="Arial"/>
              </a:rPr>
              <a:t>Waveform </a:t>
            </a:r>
            <a:r>
              <a:rPr lang="en-US" err="1">
                <a:latin typeface="Arial"/>
                <a:cs typeface="Arial"/>
              </a:rPr>
              <a:t>rx</a:t>
            </a:r>
            <a:endParaRPr lang="en-US" err="1"/>
          </a:p>
        </p:txBody>
      </p:sp>
      <p:pic>
        <p:nvPicPr>
          <p:cNvPr id="3" name="Picture 2" descr="A diagram of data&#10;&#10;AI-generated content may be incorrect.">
            <a:extLst>
              <a:ext uri="{FF2B5EF4-FFF2-40B4-BE49-F238E27FC236}">
                <a16:creationId xmlns:a16="http://schemas.microsoft.com/office/drawing/2014/main" id="{E57F5050-068B-93EA-C080-44D3BEB0C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44" y="1261269"/>
            <a:ext cx="8913557" cy="33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470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A8273-23DE-BD78-D1CE-7EBEA0BB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330AC-06CD-8849-C753-A2026011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Verify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FE849-45A3-167E-D2A0-A876135A1F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95E1DD-8E8A-40AD-FA7F-E23F7A0FA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39317"/>
              </p:ext>
            </p:extLst>
          </p:nvPr>
        </p:nvGraphicFramePr>
        <p:xfrm>
          <a:off x="-1" y="988540"/>
          <a:ext cx="8949927" cy="4692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822">
                  <a:extLst>
                    <a:ext uri="{9D8B030D-6E8A-4147-A177-3AD203B41FA5}">
                      <a16:colId xmlns:a16="http://schemas.microsoft.com/office/drawing/2014/main" val="2336829273"/>
                    </a:ext>
                  </a:extLst>
                </a:gridCol>
                <a:gridCol w="2125603">
                  <a:extLst>
                    <a:ext uri="{9D8B030D-6E8A-4147-A177-3AD203B41FA5}">
                      <a16:colId xmlns:a16="http://schemas.microsoft.com/office/drawing/2014/main" val="2673406756"/>
                    </a:ext>
                  </a:extLst>
                </a:gridCol>
                <a:gridCol w="3317441">
                  <a:extLst>
                    <a:ext uri="{9D8B030D-6E8A-4147-A177-3AD203B41FA5}">
                      <a16:colId xmlns:a16="http://schemas.microsoft.com/office/drawing/2014/main" val="4167906352"/>
                    </a:ext>
                  </a:extLst>
                </a:gridCol>
                <a:gridCol w="881828">
                  <a:extLst>
                    <a:ext uri="{9D8B030D-6E8A-4147-A177-3AD203B41FA5}">
                      <a16:colId xmlns:a16="http://schemas.microsoft.com/office/drawing/2014/main" val="3006651793"/>
                    </a:ext>
                  </a:extLst>
                </a:gridCol>
                <a:gridCol w="1599233">
                  <a:extLst>
                    <a:ext uri="{9D8B030D-6E8A-4147-A177-3AD203B41FA5}">
                      <a16:colId xmlns:a16="http://schemas.microsoft.com/office/drawing/2014/main" val="3453305592"/>
                    </a:ext>
                  </a:extLst>
                </a:gridCol>
              </a:tblGrid>
              <a:tr h="57288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Test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Đầu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vào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err="1"/>
                        <a:t>Số</a:t>
                      </a:r>
                      <a:r>
                        <a:rPr lang="en-US" sz="1200"/>
                        <a:t>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Kết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quả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785161"/>
                  </a:ext>
                </a:extLst>
              </a:tr>
              <a:tr h="709283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TX</a:t>
                      </a:r>
                    </a:p>
                    <a:p>
                      <a:pPr lvl="0"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Test parity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parity_en</a:t>
                      </a:r>
                      <a:r>
                        <a:rPr lang="en-US" sz="1200"/>
                        <a:t> = 1</a:t>
                      </a:r>
                      <a:br>
                        <a:rPr lang="en-US" sz="1200"/>
                      </a:br>
                      <a:r>
                        <a:rPr lang="en-US" sz="1200" err="1"/>
                        <a:t>parity_type</a:t>
                      </a:r>
                      <a:r>
                        <a:rPr lang="en-US" sz="1200"/>
                        <a:t> = odd, even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44265"/>
                  </a:ext>
                </a:extLst>
              </a:tr>
              <a:tr h="709283"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Test </a:t>
                      </a:r>
                      <a:r>
                        <a:rPr lang="en-US" sz="1200" err="1"/>
                        <a:t>các</a:t>
                      </a:r>
                      <a:r>
                        <a:rPr lang="en-US" sz="1200"/>
                        <a:t> config </a:t>
                      </a:r>
                      <a:r>
                        <a:rPr lang="en-US" sz="1200" err="1"/>
                        <a:t>kích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thước</a:t>
                      </a:r>
                      <a:r>
                        <a:rPr lang="en-US" sz="1200"/>
                        <a:t>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data_bit_num</a:t>
                      </a:r>
                      <a:r>
                        <a:rPr lang="en-US" sz="1200"/>
                        <a:t>=2'b00 – 2'b11</a:t>
                      </a:r>
                    </a:p>
                    <a:p>
                      <a:pPr lvl="0">
                        <a:buNone/>
                      </a:pPr>
                      <a:r>
                        <a:rPr lang="en-US" sz="1200" err="1"/>
                        <a:t>Stop_bit_num</a:t>
                      </a:r>
                      <a:r>
                        <a:rPr lang="en-US" sz="1200"/>
                        <a:t> = 1'b0 – 1'b1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090521"/>
                  </a:ext>
                </a:extLst>
              </a:tr>
              <a:tr h="709283"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Thay </a:t>
                      </a:r>
                      <a:r>
                        <a:rPr lang="en-US" sz="1200" err="1"/>
                        <a:t>đổi</a:t>
                      </a:r>
                      <a:r>
                        <a:rPr lang="en-US" sz="1200"/>
                        <a:t> data, config </a:t>
                      </a:r>
                      <a:r>
                        <a:rPr lang="en-US" sz="1200" err="1"/>
                        <a:t>trong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quá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trình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truyền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92320"/>
                  </a:ext>
                </a:extLst>
              </a:tr>
              <a:tr h="709283"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RX </a:t>
                      </a:r>
                    </a:p>
                    <a:p>
                      <a:pPr lvl="0"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Test parity error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err="1"/>
                        <a:t>parity_en</a:t>
                      </a:r>
                      <a:r>
                        <a:rPr lang="en-US" sz="1200"/>
                        <a:t> = 1</a:t>
                      </a:r>
                      <a:br>
                        <a:rPr lang="en-US" sz="1200"/>
                      </a:br>
                      <a:r>
                        <a:rPr lang="en-US" sz="1200" err="1"/>
                        <a:t>parity_type</a:t>
                      </a:r>
                      <a:r>
                        <a:rPr lang="en-US" sz="1200"/>
                        <a:t> = odd, even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100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PASS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962177"/>
                  </a:ext>
                </a:extLst>
              </a:tr>
              <a:tr h="709283"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Test </a:t>
                      </a:r>
                      <a:r>
                        <a:rPr lang="en-US" sz="1200" err="1"/>
                        <a:t>các</a:t>
                      </a:r>
                      <a:r>
                        <a:rPr lang="en-US" sz="1200"/>
                        <a:t> config </a:t>
                      </a:r>
                      <a:r>
                        <a:rPr lang="en-US" sz="1200" err="1"/>
                        <a:t>kích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thước</a:t>
                      </a:r>
                      <a:r>
                        <a:rPr lang="en-US" sz="1200"/>
                        <a:t> frame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data_bit_num=2'b00 – 2'b11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200" err="1"/>
                        <a:t>Stop_bit_num</a:t>
                      </a:r>
                      <a:r>
                        <a:rPr lang="en-US" sz="1200"/>
                        <a:t> = 1'b0 – 1'b1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800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PASS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535115"/>
                  </a:ext>
                </a:extLst>
              </a:tr>
              <a:tr h="572883"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Thay </a:t>
                      </a:r>
                      <a:r>
                        <a:rPr lang="en-US" sz="1200" err="1"/>
                        <a:t>đổi</a:t>
                      </a:r>
                      <a:r>
                        <a:rPr lang="en-US" sz="1200"/>
                        <a:t> data, config </a:t>
                      </a:r>
                      <a:r>
                        <a:rPr lang="en-US" sz="1200" err="1"/>
                        <a:t>trong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quá</a:t>
                      </a:r>
                      <a:r>
                        <a:rPr lang="en-US" sz="1200"/>
                        <a:t> </a:t>
                      </a:r>
                      <a:r>
                        <a:rPr lang="en-US" sz="1200" err="1"/>
                        <a:t>trình</a:t>
                      </a:r>
                      <a:r>
                        <a:rPr lang="en-US" sz="12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Random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074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014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681A3-EDD1-37A4-C7AD-639689CC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A2545-7FDC-D8F1-D48A-689FB0DB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Verify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EB4E5-4F31-4E32-C3A3-C02E8CBB50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67F02D-F480-4157-4A9E-11D68D070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344" y="835414"/>
            <a:ext cx="5272453" cy="25959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203ADA-76E3-BE12-49BE-48534D920129}"/>
              </a:ext>
            </a:extLst>
          </p:cNvPr>
          <p:cNvSpPr txBox="1"/>
          <p:nvPr/>
        </p:nvSpPr>
        <p:spPr>
          <a:xfrm>
            <a:off x="789547" y="3646905"/>
            <a:ext cx="738645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buFont typeface="Calibri"/>
              <a:buChar char="-"/>
            </a:pPr>
            <a:r>
              <a:rPr lang="en-US" err="1">
                <a:latin typeface="Arial"/>
                <a:cs typeface="Arial"/>
              </a:rPr>
              <a:t>Xây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dựng</a:t>
            </a:r>
            <a:r>
              <a:rPr lang="en-US">
                <a:latin typeface="Arial"/>
                <a:cs typeface="Arial"/>
              </a:rPr>
              <a:t> testbench </a:t>
            </a:r>
            <a:r>
              <a:rPr lang="en-US" err="1">
                <a:latin typeface="Arial"/>
                <a:cs typeface="Arial"/>
              </a:rPr>
              <a:t>cho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khối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err="1">
                <a:latin typeface="Arial"/>
                <a:cs typeface="Arial"/>
              </a:rPr>
              <a:t>uart</a:t>
            </a:r>
            <a:r>
              <a:rPr lang="en-US">
                <a:latin typeface="Arial"/>
                <a:cs typeface="Arial"/>
              </a:rPr>
              <a:t> core 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 err="1">
                <a:latin typeface="Arial"/>
                <a:cs typeface="Arial"/>
              </a:rPr>
              <a:t>Đưa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tín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hiệu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đầu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vào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trong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uart</a:t>
            </a:r>
            <a:r>
              <a:rPr lang="en-US">
                <a:latin typeface="Arial"/>
                <a:cs typeface="Arial"/>
              </a:rPr>
              <a:t> core </a:t>
            </a:r>
            <a:r>
              <a:rPr lang="en-US" err="1">
                <a:latin typeface="Arial"/>
                <a:cs typeface="Arial"/>
              </a:rPr>
              <a:t>và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quan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sát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đầu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ra</a:t>
            </a:r>
            <a:r>
              <a:rPr lang="en-US">
                <a:latin typeface="Arial"/>
                <a:cs typeface="Arial"/>
              </a:rPr>
              <a:t> ở </a:t>
            </a:r>
            <a:r>
              <a:rPr lang="en-US" err="1">
                <a:latin typeface="Arial"/>
                <a:cs typeface="Arial"/>
              </a:rPr>
              <a:t>bên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trong</a:t>
            </a:r>
            <a:r>
              <a:rPr lang="en-US">
                <a:latin typeface="Arial"/>
                <a:cs typeface="Arial"/>
              </a:rPr>
              <a:t> testbench </a:t>
            </a:r>
          </a:p>
          <a:p>
            <a:pPr algn="l"/>
            <a:endParaRPr lang="en-US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7EB96-7E82-7231-9BC3-669B5A41F964}"/>
              </a:ext>
            </a:extLst>
          </p:cNvPr>
          <p:cNvSpPr txBox="1"/>
          <p:nvPr/>
        </p:nvSpPr>
        <p:spPr>
          <a:xfrm>
            <a:off x="789547" y="4572574"/>
            <a:ext cx="738645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buFont typeface="Calibri"/>
              <a:buChar char="-"/>
            </a:pPr>
            <a:r>
              <a:rPr lang="en-US">
                <a:latin typeface="Arial"/>
                <a:cs typeface="Arial"/>
              </a:rPr>
              <a:t>Các </a:t>
            </a:r>
            <a:r>
              <a:rPr lang="en-US" err="1">
                <a:latin typeface="Arial"/>
                <a:cs typeface="Arial"/>
              </a:rPr>
              <a:t>chức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năng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chính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cần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kiểm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err="1">
                <a:latin typeface="Arial"/>
                <a:cs typeface="Arial"/>
              </a:rPr>
              <a:t>tra</a:t>
            </a:r>
            <a:r>
              <a:rPr lang="en-US">
                <a:latin typeface="Arial"/>
                <a:cs typeface="Arial"/>
              </a:rPr>
              <a:t> 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 b="1" err="1">
                <a:latin typeface="Arial"/>
                <a:cs typeface="Arial"/>
              </a:rPr>
              <a:t>Truyền</a:t>
            </a:r>
            <a:r>
              <a:rPr lang="en-US" b="1">
                <a:latin typeface="Arial"/>
                <a:cs typeface="Arial"/>
              </a:rPr>
              <a:t> data (TX)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 b="1" err="1">
                <a:latin typeface="Arial"/>
                <a:cs typeface="Arial"/>
              </a:rPr>
              <a:t>Nhận</a:t>
            </a:r>
            <a:r>
              <a:rPr lang="en-US" b="1">
                <a:latin typeface="Arial"/>
                <a:cs typeface="Arial"/>
              </a:rPr>
              <a:t> data (RX)</a:t>
            </a:r>
          </a:p>
          <a:p>
            <a:pPr algn="l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9862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3C1F6-7DC0-14EA-AF50-7603178F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EFC8-BAEB-4DCF-DF57-8F2AD4BF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Verify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3B504-D0B8-A7AB-4F7B-0130B2C5E1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CB2748-580E-F65A-1F2C-B4C1E080B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821" y="386141"/>
            <a:ext cx="5046907" cy="38133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0490AB-C524-230A-7886-E7F484144F10}"/>
              </a:ext>
            </a:extLst>
          </p:cNvPr>
          <p:cNvSpPr txBox="1"/>
          <p:nvPr/>
        </p:nvSpPr>
        <p:spPr>
          <a:xfrm>
            <a:off x="716" y="4355243"/>
            <a:ext cx="8770933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buFont typeface="Calibri"/>
              <a:buChar char="-"/>
            </a:pPr>
            <a:r>
              <a:rPr lang="en-US" err="1">
                <a:latin typeface="Arial"/>
                <a:cs typeface="Arial"/>
              </a:rPr>
              <a:t>Kiểm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tra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chức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năng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b="1">
                <a:latin typeface="Arial"/>
                <a:cs typeface="Arial"/>
              </a:rPr>
              <a:t>TX</a:t>
            </a:r>
            <a:r>
              <a:rPr lang="en-US">
                <a:latin typeface="Arial"/>
                <a:cs typeface="Arial"/>
              </a:rPr>
              <a:t>: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 err="1">
                <a:latin typeface="Arial"/>
                <a:cs typeface="Arial"/>
              </a:rPr>
              <a:t>Xây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dựng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b="1">
                <a:latin typeface="Arial"/>
                <a:cs typeface="Arial"/>
              </a:rPr>
              <a:t>RX  </a:t>
            </a:r>
            <a:r>
              <a:rPr lang="en-US" b="1" err="1">
                <a:latin typeface="Arial"/>
                <a:cs typeface="Arial"/>
              </a:rPr>
              <a:t>ảo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err="1">
                <a:latin typeface="Arial"/>
                <a:cs typeface="Arial"/>
              </a:rPr>
              <a:t>có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chức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năng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err="1">
                <a:latin typeface="Arial"/>
                <a:cs typeface="Arial"/>
              </a:rPr>
              <a:t>được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mô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tả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hành</a:t>
            </a:r>
            <a:r>
              <a:rPr lang="en-US">
                <a:latin typeface="Arial"/>
                <a:cs typeface="Arial"/>
              </a:rPr>
              <a:t> vi </a:t>
            </a:r>
            <a:r>
              <a:rPr lang="en-US" err="1">
                <a:latin typeface="Arial"/>
                <a:cs typeface="Arial"/>
              </a:rPr>
              <a:t>giống</a:t>
            </a:r>
            <a:r>
              <a:rPr lang="en-US">
                <a:latin typeface="Arial"/>
                <a:cs typeface="Arial"/>
              </a:rPr>
              <a:t> RX </a:t>
            </a:r>
            <a:r>
              <a:rPr lang="en-US" err="1">
                <a:latin typeface="Arial"/>
                <a:cs typeface="Arial"/>
              </a:rPr>
              <a:t>thật</a:t>
            </a:r>
            <a:endParaRPr lang="en-US">
              <a:latin typeface="Arial"/>
              <a:cs typeface="Arial"/>
            </a:endParaRPr>
          </a:p>
          <a:p>
            <a:pPr marL="742950" lvl="1" indent="-285750" algn="l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Data </a:t>
            </a:r>
            <a:r>
              <a:rPr lang="en-US" err="1">
                <a:latin typeface="Arial"/>
                <a:cs typeface="Arial"/>
              </a:rPr>
              <a:t>vào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b="1">
                <a:latin typeface="Arial"/>
                <a:cs typeface="Arial"/>
              </a:rPr>
              <a:t>TX </a:t>
            </a:r>
            <a:r>
              <a:rPr lang="en-US" b="1" err="1">
                <a:latin typeface="Arial"/>
                <a:cs typeface="Arial"/>
              </a:rPr>
              <a:t>dut</a:t>
            </a:r>
            <a:r>
              <a:rPr lang="en-US" b="1">
                <a:latin typeface="Arial"/>
                <a:cs typeface="Arial"/>
              </a:rPr>
              <a:t> 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err="1">
                <a:latin typeface="Arial"/>
                <a:cs typeface="Arial"/>
              </a:rPr>
              <a:t>sẽ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được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truyền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ra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chân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b="1" err="1">
                <a:latin typeface="Arial"/>
                <a:cs typeface="Arial"/>
              </a:rPr>
              <a:t>tx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để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đưa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vào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b="1">
                <a:latin typeface="Arial"/>
                <a:cs typeface="Arial"/>
              </a:rPr>
              <a:t>RX</a:t>
            </a:r>
            <a:r>
              <a:rPr lang="en-US">
                <a:latin typeface="Arial"/>
                <a:cs typeface="Arial"/>
              </a:rPr>
              <a:t>  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Sau </a:t>
            </a:r>
            <a:r>
              <a:rPr lang="en-US" err="1">
                <a:latin typeface="Arial"/>
                <a:cs typeface="Arial"/>
              </a:rPr>
              <a:t>khi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truyền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xong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có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tín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hiệu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b="1" err="1">
                <a:latin typeface="Arial"/>
                <a:cs typeface="Arial"/>
              </a:rPr>
              <a:t>tx_done</a:t>
            </a:r>
            <a:r>
              <a:rPr lang="en-US" b="1">
                <a:latin typeface="Arial"/>
                <a:cs typeface="Arial"/>
              </a:rPr>
              <a:t> </a:t>
            </a:r>
            <a:r>
              <a:rPr lang="en-US">
                <a:latin typeface="Arial"/>
                <a:cs typeface="Arial"/>
              </a:rPr>
              <a:t>=&gt; </a:t>
            </a:r>
            <a:r>
              <a:rPr lang="en-US" err="1">
                <a:latin typeface="Arial"/>
                <a:cs typeface="Arial"/>
              </a:rPr>
              <a:t>đưa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vào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err="1">
                <a:latin typeface="Arial"/>
                <a:cs typeface="Arial"/>
              </a:rPr>
              <a:t>khối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b="1">
                <a:latin typeface="Arial"/>
                <a:cs typeface="Arial"/>
              </a:rPr>
              <a:t>compare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để</a:t>
            </a:r>
            <a:r>
              <a:rPr lang="en-US">
                <a:latin typeface="Arial"/>
                <a:cs typeface="Arial"/>
              </a:rPr>
              <a:t> so </a:t>
            </a:r>
            <a:r>
              <a:rPr lang="en-US" err="1">
                <a:latin typeface="Arial"/>
                <a:cs typeface="Arial"/>
              </a:rPr>
              <a:t>sánh</a:t>
            </a:r>
            <a:r>
              <a:rPr lang="en-US">
                <a:latin typeface="Arial"/>
                <a:cs typeface="Arial"/>
              </a:rPr>
              <a:t> 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 b="1">
                <a:latin typeface="Arial"/>
                <a:cs typeface="Arial"/>
              </a:rPr>
              <a:t>Monitor</a:t>
            </a:r>
            <a:r>
              <a:rPr lang="en-US">
                <a:latin typeface="Arial"/>
                <a:cs typeface="Arial"/>
              </a:rPr>
              <a:t>: In ra </a:t>
            </a:r>
            <a:r>
              <a:rPr lang="en-US" err="1">
                <a:latin typeface="Arial"/>
                <a:cs typeface="Arial"/>
              </a:rPr>
              <a:t>kết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quả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đúng</a:t>
            </a:r>
            <a:r>
              <a:rPr lang="en-US">
                <a:latin typeface="Arial"/>
                <a:cs typeface="Arial"/>
              </a:rPr>
              <a:t> hay </a:t>
            </a:r>
            <a:r>
              <a:rPr lang="en-US" err="1">
                <a:latin typeface="Arial"/>
                <a:cs typeface="Arial"/>
              </a:rPr>
              <a:t>sai</a:t>
            </a:r>
            <a:r>
              <a:rPr lang="en-US">
                <a:latin typeface="Arial"/>
                <a:cs typeface="Arial"/>
              </a:rPr>
              <a:t>​</a:t>
            </a:r>
          </a:p>
          <a:p>
            <a:pPr algn="l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8598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AF20A-C16B-15E6-A68D-AB4288EB1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7771D-977C-3C3A-B612-590BED12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Verify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3CBAF-6A37-2BB5-E468-853D840D62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299A9A5-7A24-22FC-0167-8EB9E7395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450" y="522979"/>
            <a:ext cx="4942266" cy="36765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0B73D9-5C66-8068-F4F0-78127CF92B76}"/>
              </a:ext>
            </a:extLst>
          </p:cNvPr>
          <p:cNvSpPr txBox="1"/>
          <p:nvPr/>
        </p:nvSpPr>
        <p:spPr>
          <a:xfrm>
            <a:off x="676858" y="4371341"/>
            <a:ext cx="7966003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l">
              <a:buFont typeface="Calibri"/>
              <a:buChar char="-"/>
            </a:pPr>
            <a:r>
              <a:rPr lang="en-US" err="1">
                <a:latin typeface="Arial"/>
                <a:cs typeface="Arial"/>
              </a:rPr>
              <a:t>Kiểm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tra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chức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năng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b="1">
                <a:latin typeface="Arial"/>
                <a:cs typeface="Arial"/>
              </a:rPr>
              <a:t>RX</a:t>
            </a:r>
            <a:r>
              <a:rPr lang="en-US">
                <a:latin typeface="Arial"/>
                <a:cs typeface="Arial"/>
              </a:rPr>
              <a:t>: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 err="1">
                <a:latin typeface="Arial"/>
                <a:cs typeface="Arial"/>
              </a:rPr>
              <a:t>Xây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dựng</a:t>
            </a:r>
            <a:r>
              <a:rPr lang="en-US" b="1">
                <a:latin typeface="Arial"/>
                <a:cs typeface="Arial"/>
              </a:rPr>
              <a:t> TX </a:t>
            </a:r>
            <a:r>
              <a:rPr lang="en-US" b="1" err="1">
                <a:latin typeface="Arial"/>
                <a:cs typeface="Arial"/>
              </a:rPr>
              <a:t>ảo</a:t>
            </a:r>
            <a:r>
              <a:rPr lang="en-US" b="1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có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chức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năng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err="1">
                <a:latin typeface="Arial"/>
                <a:cs typeface="Arial"/>
              </a:rPr>
              <a:t>được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mô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tả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hành</a:t>
            </a:r>
            <a:r>
              <a:rPr lang="en-US">
                <a:latin typeface="Arial"/>
                <a:cs typeface="Arial"/>
              </a:rPr>
              <a:t> vi </a:t>
            </a:r>
            <a:r>
              <a:rPr lang="en-US" err="1">
                <a:latin typeface="Arial"/>
                <a:cs typeface="Arial"/>
              </a:rPr>
              <a:t>giống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b="1">
                <a:latin typeface="Arial"/>
                <a:cs typeface="Arial"/>
              </a:rPr>
              <a:t>TX </a:t>
            </a:r>
            <a:r>
              <a:rPr lang="en-US" b="1" err="1">
                <a:latin typeface="Arial"/>
                <a:cs typeface="Arial"/>
              </a:rPr>
              <a:t>thật</a:t>
            </a:r>
            <a:r>
              <a:rPr lang="en-US" b="1">
                <a:latin typeface="Arial"/>
                <a:cs typeface="Arial"/>
              </a:rPr>
              <a:t>​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Data </a:t>
            </a:r>
            <a:r>
              <a:rPr lang="en-US" err="1">
                <a:latin typeface="Arial"/>
                <a:cs typeface="Arial"/>
              </a:rPr>
              <a:t>vào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b="1">
                <a:latin typeface="Arial"/>
                <a:cs typeface="Arial"/>
              </a:rPr>
              <a:t>TX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sẽ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được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truyền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ra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chân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tx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để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đưa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vào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b="1">
                <a:latin typeface="Arial"/>
                <a:cs typeface="Arial"/>
              </a:rPr>
              <a:t>RX </a:t>
            </a:r>
            <a:r>
              <a:rPr lang="en-US" b="1" err="1">
                <a:latin typeface="Arial"/>
                <a:cs typeface="Arial"/>
              </a:rPr>
              <a:t>dut</a:t>
            </a:r>
            <a:r>
              <a:rPr lang="en-US">
                <a:latin typeface="Arial"/>
                <a:cs typeface="Arial"/>
              </a:rPr>
              <a:t> 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Sau </a:t>
            </a:r>
            <a:r>
              <a:rPr lang="en-US" err="1">
                <a:latin typeface="Arial"/>
                <a:cs typeface="Arial"/>
              </a:rPr>
              <a:t>khi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nhận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xong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có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tín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hiệu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b="1" err="1">
                <a:latin typeface="Arial"/>
                <a:cs typeface="Arial"/>
              </a:rPr>
              <a:t>rx_done</a:t>
            </a:r>
            <a:r>
              <a:rPr lang="en-US">
                <a:latin typeface="Arial"/>
                <a:cs typeface="Arial"/>
              </a:rPr>
              <a:t> =&gt; </a:t>
            </a:r>
            <a:r>
              <a:rPr lang="en-US" err="1">
                <a:latin typeface="Arial"/>
                <a:cs typeface="Arial"/>
              </a:rPr>
              <a:t>đưa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vào</a:t>
            </a:r>
            <a:r>
              <a:rPr lang="en-US">
                <a:latin typeface="Arial"/>
                <a:cs typeface="Arial"/>
              </a:rPr>
              <a:t> </a:t>
            </a:r>
            <a:r>
              <a:rPr lang="en-US" err="1">
                <a:latin typeface="Arial"/>
                <a:cs typeface="Arial"/>
              </a:rPr>
              <a:t>khối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b="1">
                <a:latin typeface="Arial"/>
                <a:cs typeface="Arial"/>
              </a:rPr>
              <a:t>compare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để</a:t>
            </a:r>
            <a:r>
              <a:rPr lang="en-US">
                <a:latin typeface="Arial"/>
                <a:cs typeface="Arial"/>
              </a:rPr>
              <a:t> so </a:t>
            </a:r>
            <a:r>
              <a:rPr lang="en-US" err="1">
                <a:latin typeface="Arial"/>
                <a:cs typeface="Arial"/>
              </a:rPr>
              <a:t>sánh</a:t>
            </a:r>
            <a:r>
              <a:rPr lang="en-US">
                <a:latin typeface="Arial"/>
                <a:cs typeface="Arial"/>
              </a:rPr>
              <a:t> </a:t>
            </a:r>
          </a:p>
          <a:p>
            <a:pPr marL="742950" lvl="1" indent="-285750" algn="l">
              <a:buFont typeface="Courier New"/>
              <a:buChar char="o"/>
            </a:pPr>
            <a:r>
              <a:rPr lang="en-US" b="1">
                <a:latin typeface="Arial"/>
                <a:cs typeface="Arial"/>
              </a:rPr>
              <a:t>Monitor</a:t>
            </a:r>
            <a:r>
              <a:rPr lang="en-US">
                <a:latin typeface="Arial"/>
                <a:cs typeface="Arial"/>
              </a:rPr>
              <a:t>: In ra kết quả </a:t>
            </a:r>
            <a:r>
              <a:rPr lang="en-US" err="1">
                <a:latin typeface="Arial"/>
                <a:cs typeface="Arial"/>
              </a:rPr>
              <a:t>đúng</a:t>
            </a:r>
            <a:r>
              <a:rPr lang="en-US">
                <a:latin typeface="Arial"/>
                <a:cs typeface="Arial"/>
              </a:rPr>
              <a:t> hay </a:t>
            </a:r>
            <a:r>
              <a:rPr lang="en-US" err="1">
                <a:latin typeface="Arial"/>
                <a:cs typeface="Arial"/>
              </a:rPr>
              <a:t>sai</a:t>
            </a:r>
            <a:r>
              <a:rPr lang="en-US">
                <a:latin typeface="Arial"/>
                <a:cs typeface="Arial"/>
              </a:rPr>
              <a:t>​</a:t>
            </a:r>
          </a:p>
          <a:p>
            <a:pPr algn="l"/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5881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2713038" y="5927725"/>
            <a:ext cx="30019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sz="2000" b="1">
                <a:solidFill>
                  <a:schemeClr val="bg1"/>
                </a:solidFill>
              </a:rPr>
              <a:t>www.themegallery.com</a:t>
            </a:r>
          </a:p>
        </p:txBody>
      </p:sp>
      <p:sp>
        <p:nvSpPr>
          <p:cNvPr id="104453" name="WordArt 5"/>
          <p:cNvSpPr>
            <a:spLocks noChangeArrowheads="1" noChangeShapeType="1" noTextEdit="1"/>
          </p:cNvSpPr>
          <p:nvPr/>
        </p:nvSpPr>
        <p:spPr bwMode="gray">
          <a:xfrm>
            <a:off x="2195513" y="2132013"/>
            <a:ext cx="5689600" cy="792162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r>
              <a:rPr lang="en-US" sz="3600" b="1" kern="1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hlink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53882" dir="2700000" algn="ctr" rotWithShape="0">
                    <a:schemeClr val="tx2">
                      <a:alpha val="50000"/>
                    </a:schemeClr>
                  </a:outerShdw>
                </a:effectLst>
                <a:latin typeface="Arial"/>
                <a:cs typeface="Arial"/>
              </a:rPr>
              <a:t>Thank You !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124200" y="4953000"/>
            <a:ext cx="3124200" cy="137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" name="Picture 7" descr="EDA logo_Grass 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62301" y="4642104"/>
            <a:ext cx="3047998" cy="1993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88D6-7DE4-99CF-4D62-D3262FDD2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D1330-04A7-12C4-BA6B-AA9E89AF1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</a:t>
            </a:r>
            <a:r>
              <a:rPr lang="en-US" err="1"/>
              <a:t>Testplan</a:t>
            </a:r>
            <a:endParaRPr lang="en-US" err="1"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04D19-3971-79F7-AE9B-CE4570AC49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45181-CF5C-4710-8252-BA94E6E0AA9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A5AD0-6A72-1C5C-BDA7-A6CE9C663174}"/>
              </a:ext>
            </a:extLst>
          </p:cNvPr>
          <p:cNvSpPr txBox="1"/>
          <p:nvPr/>
        </p:nvSpPr>
        <p:spPr>
          <a:xfrm>
            <a:off x="735401" y="572468"/>
            <a:ext cx="500171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AutoNum type="arabicPeriod"/>
            </a:pPr>
            <a:r>
              <a:rPr lang="en-US">
                <a:latin typeface="Arial"/>
                <a:cs typeface="Arial"/>
              </a:rPr>
              <a:t>Module RX</a:t>
            </a:r>
          </a:p>
          <a:p>
            <a:pPr algn="l"/>
            <a:endParaRPr lang="en-US">
              <a:cs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559094-57EA-7EE2-E516-9DC7EF2F1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284322"/>
              </p:ext>
            </p:extLst>
          </p:nvPr>
        </p:nvGraphicFramePr>
        <p:xfrm>
          <a:off x="1033272" y="896112"/>
          <a:ext cx="7554022" cy="536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173">
                  <a:extLst>
                    <a:ext uri="{9D8B030D-6E8A-4147-A177-3AD203B41FA5}">
                      <a16:colId xmlns:a16="http://schemas.microsoft.com/office/drawing/2014/main" val="505988687"/>
                    </a:ext>
                  </a:extLst>
                </a:gridCol>
                <a:gridCol w="5651849">
                  <a:extLst>
                    <a:ext uri="{9D8B030D-6E8A-4147-A177-3AD203B41FA5}">
                      <a16:colId xmlns:a16="http://schemas.microsoft.com/office/drawing/2014/main" val="4236139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Testcase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586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Test parity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Testcase1: 8bit data, odd parity, 1 bit stop</a:t>
                      </a:r>
                    </a:p>
                    <a:p>
                      <a:pPr lvl="0">
                        <a:buNone/>
                      </a:pPr>
                      <a:r>
                        <a:rPr lang="en-US" sz="1600"/>
                        <a:t>Testcase2: 7bit data, even parity, 1bit stop</a:t>
                      </a:r>
                    </a:p>
                    <a:p>
                      <a:pPr lvl="0">
                        <a:buNone/>
                      </a:pPr>
                      <a:r>
                        <a:rPr lang="en-US" sz="1600"/>
                        <a:t>Testcase3: 6bit data, odd parity, 1 bit stop</a:t>
                      </a:r>
                    </a:p>
                    <a:p>
                      <a:pPr lvl="0">
                        <a:buNone/>
                      </a:pPr>
                      <a:r>
                        <a:rPr lang="en-US" sz="1600"/>
                        <a:t>Testcase4: 8bit data ,no parity bit, 1 bit stop</a:t>
                      </a:r>
                    </a:p>
                    <a:p>
                      <a:pPr lvl="0">
                        <a:buNone/>
                      </a:pPr>
                      <a:r>
                        <a:rPr lang="en-US" sz="1600"/>
                        <a:t>Testcase 5: </a:t>
                      </a:r>
                      <a:r>
                        <a:rPr lang="en-US" sz="1600" err="1"/>
                        <a:t>truyền</a:t>
                      </a:r>
                      <a:r>
                        <a:rPr lang="en-US" sz="1600"/>
                        <a:t> </a:t>
                      </a:r>
                      <a:r>
                        <a:rPr lang="en-US" sz="1600" err="1"/>
                        <a:t>sai</a:t>
                      </a:r>
                      <a:r>
                        <a:rPr lang="en-US" sz="1600"/>
                        <a:t> parity bit ( odd/even)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636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Test stop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Testcase1: 8bit data, </a:t>
                      </a:r>
                      <a:r>
                        <a:rPr lang="en-US" sz="1600" err="1"/>
                        <a:t>không</a:t>
                      </a:r>
                      <a:r>
                        <a:rPr lang="en-US" sz="1600"/>
                        <a:t> parity, 1 bit/ 2bit stop</a:t>
                      </a:r>
                    </a:p>
                    <a:p>
                      <a:pPr lvl="0">
                        <a:buNone/>
                      </a:pPr>
                      <a:r>
                        <a:rPr lang="en-US" sz="1600"/>
                        <a:t>Testcase2: 8bit data, odd/even parity, 1 bit/ 2bit stop</a:t>
                      </a:r>
                    </a:p>
                    <a:p>
                      <a:pPr lvl="0">
                        <a:buNone/>
                      </a:pPr>
                      <a:r>
                        <a:rPr lang="en-US" sz="1600"/>
                        <a:t>Testcase3: </a:t>
                      </a:r>
                      <a:r>
                        <a:rPr lang="en-US" sz="1600" err="1"/>
                        <a:t>không</a:t>
                      </a:r>
                      <a:r>
                        <a:rPr lang="en-US" sz="1600"/>
                        <a:t> </a:t>
                      </a:r>
                      <a:r>
                        <a:rPr lang="en-US" sz="1600" err="1"/>
                        <a:t>có</a:t>
                      </a:r>
                      <a:r>
                        <a:rPr lang="en-US" sz="1600"/>
                        <a:t> stop bit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13450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Test data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Testcase 1: 8 bit data, odd/even parity bit, 1bit/2bit stop</a:t>
                      </a:r>
                    </a:p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Testcase 2: 7 bit data, odd/even parity bit, 1bit/2bit stop</a:t>
                      </a:r>
                    </a:p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Testcase 3: 6 bit data, odd/even parity bit, 1bit/2bit stop</a:t>
                      </a:r>
                      <a:endParaRPr lang="en-US" sz="1600"/>
                    </a:p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Testcase 4: 5 bit data, odd/even parity bit, 1bit/2bit stop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25860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Random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Testcase 1: random, 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data_bit_num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, 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parity_en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, </a:t>
                      </a:r>
                      <a:r>
                        <a:rPr lang="en-US" sz="1600" b="0" i="0" u="none" strike="noStrike" noProof="0" err="1">
                          <a:solidFill>
                            <a:srgbClr val="000000"/>
                          </a:solidFill>
                          <a:latin typeface="Verdana"/>
                        </a:rPr>
                        <a:t>parity_type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Verdana"/>
                        </a:rPr>
                        <a:t>, stop bit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295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866013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117gl">
  <a:themeElements>
    <a:clrScheme name="sample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954a098-3cf4-427f-8b54-3d6f10d895f1">
      <UserInfo>
        <DisplayName/>
        <AccountId xsi:nil="true"/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CF296165D94F469ECB9747F5CE1570" ma:contentTypeVersion="14" ma:contentTypeDescription="Create a new document." ma:contentTypeScope="" ma:versionID="de0f3e8422926523e5731e691800ba7c">
  <xsd:schema xmlns:xsd="http://www.w3.org/2001/XMLSchema" xmlns:xs="http://www.w3.org/2001/XMLSchema" xmlns:p="http://schemas.microsoft.com/office/2006/metadata/properties" xmlns:ns2="77f86598-fbe8-4040-8f87-9d82638c0cb9" xmlns:ns3="a954a098-3cf4-427f-8b54-3d6f10d895f1" targetNamespace="http://schemas.microsoft.com/office/2006/metadata/properties" ma:root="true" ma:fieldsID="78b0af9b1d55854e18dc594bba0da349" ns2:_="" ns3:_="">
    <xsd:import namespace="77f86598-fbe8-4040-8f87-9d82638c0cb9"/>
    <xsd:import namespace="a954a098-3cf4-427f-8b54-3d6f10d895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86598-fbe8-4040-8f87-9d82638c0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4a098-3cf4-427f-8b54-3d6f10d895f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39AD78-A1FD-4364-8979-C8C6D8645D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F348E5-021F-4C46-A7A6-AF7B0C5D6E52}">
  <ds:schemaRefs>
    <ds:schemaRef ds:uri="77f86598-fbe8-4040-8f87-9d82638c0cb9"/>
    <ds:schemaRef ds:uri="a954a098-3cf4-427f-8b54-3d6f10d895f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2B1A0DC-B8C7-4D9F-80EB-8BDFA92731FE}">
  <ds:schemaRefs>
    <ds:schemaRef ds:uri="77f86598-fbe8-4040-8f87-9d82638c0cb9"/>
    <ds:schemaRef ds:uri="a954a098-3cf4-427f-8b54-3d6f10d895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cdb2004117gl</Template>
  <Application>Microsoft Office PowerPoint</Application>
  <PresentationFormat>Trình chiếu Trên màn hình (4:3)</PresentationFormat>
  <Slides>19</Slides>
  <Notes>10</Notes>
  <HiddenSlides>0</HiddenSlide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19</vt:i4>
      </vt:variant>
    </vt:vector>
  </HeadingPairs>
  <TitlesOfParts>
    <vt:vector size="20" baseType="lpstr">
      <vt:lpstr>cdb2004117gl</vt:lpstr>
      <vt:lpstr>UART</vt:lpstr>
      <vt:lpstr>Nội dung trình bày</vt:lpstr>
      <vt:lpstr>Tổng quan về UART</vt:lpstr>
      <vt:lpstr>Tổng quan về UART</vt:lpstr>
      <vt:lpstr>Kiến trúc tổng quan</vt:lpstr>
      <vt:lpstr>Kiến trúc tổng quan</vt:lpstr>
      <vt:lpstr>2.1. Baud Generator</vt:lpstr>
      <vt:lpstr>2.2. TX</vt:lpstr>
      <vt:lpstr>2.2. TX</vt:lpstr>
      <vt:lpstr>2.3. RX</vt:lpstr>
      <vt:lpstr>2.3. RX</vt:lpstr>
      <vt:lpstr>3. Waveform</vt:lpstr>
      <vt:lpstr>3. Waveform</vt:lpstr>
      <vt:lpstr>4. Verify</vt:lpstr>
      <vt:lpstr>4. Verify</vt:lpstr>
      <vt:lpstr>4. Verify</vt:lpstr>
      <vt:lpstr>4. Verify</vt:lpstr>
      <vt:lpstr>Bản trình bày PowerPoint</vt:lpstr>
      <vt:lpstr>3. Testplan</vt:lpstr>
    </vt:vector>
  </TitlesOfParts>
  <Company>EDA-BK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 Template</dc:title>
  <dc:creator>Nguyen Thanh Tung</dc:creator>
  <cp:revision>2</cp:revision>
  <dcterms:created xsi:type="dcterms:W3CDTF">2014-06-15T03:52:37Z</dcterms:created>
  <dcterms:modified xsi:type="dcterms:W3CDTF">2025-11-08T08:05:23Z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2812300</vt:r8>
  </property>
  <property fmtid="{D5CDD505-2E9C-101B-9397-08002B2CF9AE}" pid="3" name="ContentTypeId">
    <vt:lpwstr>0x0101009ACF296165D94F469ECB9747F5CE1570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