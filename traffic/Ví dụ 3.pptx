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5F3E7375-B993-4235-923E-21EEAD6C3A9E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2136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61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58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105400"/>
          </a:xfrm>
        </p:spPr>
        <p:txBody>
          <a:bodyPr/>
          <a:lstStyle>
            <a:lvl1pPr marL="342900" indent="-342900">
              <a:buFont typeface="Wingdings" pitchFamily="2" charset="2"/>
              <a:buChar char="v"/>
              <a:defRPr/>
            </a:lvl1pPr>
            <a:lvl2pPr>
              <a:buFont typeface="Wingdings" pitchFamily="2" charset="2"/>
              <a:buChar char="q"/>
              <a:defRPr/>
            </a:lvl2pPr>
            <a:lvl3pPr>
              <a:buFont typeface="Wingdings" pitchFamily="2" charset="2"/>
              <a:buChar char="Ø"/>
              <a:defRPr/>
            </a:lvl3pPr>
            <a:lvl4pPr>
              <a:buFont typeface="Arial" pitchFamily="34" charset="0"/>
              <a:buChar char="•"/>
              <a:defRPr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1120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2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FD864070-CF4B-417A-AC46-26BF9682ECE5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2136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1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1"/>
            <a:ext cx="5384800" cy="5105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1"/>
            <a:ext cx="53848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68E2F2C4-8E40-4E55-A4DB-3360A481A788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2136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3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109728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505200"/>
            <a:ext cx="10972800" cy="2516426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3B492827-0622-4D36-8DB6-C522DF09573E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2136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1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3B492827-0622-4D36-8DB6-C522DF09573E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2136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5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108712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914400"/>
            <a:ext cx="53340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914400"/>
            <a:ext cx="53340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353176"/>
            <a:ext cx="2844800" cy="365125"/>
          </a:xfrm>
        </p:spPr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3B492827-0622-4D36-8DB6-C522DF09573E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572001" y="6351588"/>
            <a:ext cx="3149600" cy="365125"/>
          </a:xfrm>
        </p:spPr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08000" y="6353175"/>
            <a:ext cx="7213600" cy="352425"/>
          </a:xfrm>
        </p:spPr>
        <p:txBody>
          <a:bodyPr anchor="ctr" anchorCtr="0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34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48252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10972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1"/>
            <a:ext cx="10972800" cy="521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09600" y="6245225"/>
            <a:ext cx="2235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508000" y="6096000"/>
            <a:ext cx="11277600" cy="76200"/>
          </a:xfrm>
          <a:prstGeom prst="rect">
            <a:avLst/>
          </a:prstGeom>
          <a:gradFill rotWithShape="1">
            <a:gsLst>
              <a:gs pos="0">
                <a:srgbClr val="0066FF">
                  <a:gamma/>
                  <a:shade val="28627"/>
                  <a:invGamma/>
                </a:srgbClr>
              </a:gs>
              <a:gs pos="50000">
                <a:srgbClr val="0066FF">
                  <a:alpha val="48000"/>
                </a:srgbClr>
              </a:gs>
              <a:gs pos="100000">
                <a:srgbClr val="0066FF">
                  <a:gamma/>
                  <a:shade val="2862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</a:endParaRPr>
          </a:p>
        </p:txBody>
      </p:sp>
      <p:pic>
        <p:nvPicPr>
          <p:cNvPr id="16394" name="Picture 1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603791" y="6241387"/>
            <a:ext cx="470551" cy="529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508000" y="742950"/>
            <a:ext cx="11277600" cy="76200"/>
          </a:xfrm>
          <a:prstGeom prst="rect">
            <a:avLst/>
          </a:prstGeom>
          <a:gradFill rotWithShape="1">
            <a:gsLst>
              <a:gs pos="0">
                <a:srgbClr val="0066FF">
                  <a:gamma/>
                  <a:shade val="28627"/>
                  <a:invGamma/>
                </a:srgbClr>
              </a:gs>
              <a:gs pos="50000">
                <a:srgbClr val="0066FF">
                  <a:alpha val="48000"/>
                </a:srgbClr>
              </a:gs>
              <a:gs pos="100000">
                <a:srgbClr val="0066FF">
                  <a:gamma/>
                  <a:shade val="2862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7721600" y="63531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C080898F-F72A-414D-B8B7-89CF23216B39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4470400" y="6351588"/>
            <a:ext cx="3251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11" name="Picture 10" descr="SET_LOGO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079493" y="6248400"/>
            <a:ext cx="706108" cy="52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0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3.4 Đèn điều khiển giao thông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1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Chương 3. Kiểm chứng mô hình và logic thời gian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905000" y="838200"/>
            <a:ext cx="8458200" cy="5105400"/>
          </a:xfrm>
        </p:spPr>
        <p:txBody>
          <a:bodyPr/>
          <a:lstStyle/>
          <a:p>
            <a:pPr marL="341313" indent="-341313">
              <a:lnSpc>
                <a:spcPct val="150000"/>
              </a:lnSpc>
              <a:spcBef>
                <a:spcPts val="0"/>
              </a:spcBef>
              <a:tabLst>
                <a:tab pos="2286000" algn="l"/>
              </a:tabLst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Hướng ưu tiên (cao tốc) xanh trong thời gian T, sau đó</a:t>
            </a:r>
          </a:p>
          <a:p>
            <a:pPr marL="341313" indent="-341313">
              <a:lnSpc>
                <a:spcPct val="150000"/>
              </a:lnSpc>
              <a:spcBef>
                <a:spcPts val="0"/>
              </a:spcBef>
              <a:tabLst>
                <a:tab pos="2286000" algn="l"/>
              </a:tabLst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Nếu không có ô tô xuất hiện ở hướng không ưu tiên, hướng ưu tiên tiếp tục chu kỳ xanh mới</a:t>
            </a:r>
          </a:p>
          <a:p>
            <a:pPr marL="341313" indent="-341313">
              <a:lnSpc>
                <a:spcPct val="150000"/>
              </a:lnSpc>
              <a:spcBef>
                <a:spcPts val="0"/>
              </a:spcBef>
              <a:tabLst>
                <a:tab pos="2286000" algn="l"/>
              </a:tabLst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Nếu có ô tô ở hướng không ưu tiên, hướng ưu tiên chuyển sang vàng trong thời gian t, sau đó </a:t>
            </a:r>
          </a:p>
          <a:p>
            <a:pPr marL="341313" indent="-341313">
              <a:lnSpc>
                <a:spcPct val="150000"/>
              </a:lnSpc>
              <a:spcBef>
                <a:spcPts val="0"/>
              </a:spcBef>
              <a:tabLst>
                <a:tab pos="2286000" algn="l"/>
              </a:tabLst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Hướng ưu tiên chuyển sang đỏ, hướng không ưu tiên xanh trong thời gian T, sau đó</a:t>
            </a:r>
          </a:p>
          <a:p>
            <a:pPr marL="341313" indent="-341313">
              <a:lnSpc>
                <a:spcPct val="150000"/>
              </a:lnSpc>
              <a:spcBef>
                <a:spcPts val="0"/>
              </a:spcBef>
              <a:tabLst>
                <a:tab pos="2286000" algn="l"/>
              </a:tabLst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Hướng không ưu tiên chuyển sang vàng trong thời gian t và chuyển sang đỏ, hướng ưu tiên chuyển sang xanh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 marL="341313" indent="-341313">
              <a:lnSpc>
                <a:spcPct val="150000"/>
              </a:lnSpc>
              <a:spcBef>
                <a:spcPts val="0"/>
              </a:spcBef>
              <a:tabLst>
                <a:tab pos="228600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94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3.4 Đèn điều khiển giao thông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2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Chương 3. Kiểm chứng mô hình và logic thời gian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905000" y="838200"/>
            <a:ext cx="8458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Khối sensor: phát hiện ô tô ở hướng không ưu tiên</a:t>
            </a:r>
          </a:p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Khối timer: đếm thời gian</a:t>
            </a:r>
          </a:p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Khối highway_controller điều khiển đèn hướng ưu tiên</a:t>
            </a:r>
          </a:p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Khối countryroad_controller: điều khiển đèn hướng không ưu tiên</a:t>
            </a:r>
            <a:endParaRPr lang="en-US" sz="24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6"/>
          <p:cNvGrpSpPr/>
          <p:nvPr/>
        </p:nvGrpSpPr>
        <p:grpSpPr>
          <a:xfrm>
            <a:off x="2743200" y="2709862"/>
            <a:ext cx="6781800" cy="3386138"/>
            <a:chOff x="1371600" y="2590800"/>
            <a:chExt cx="6778625" cy="3386138"/>
          </a:xfrm>
        </p:grpSpPr>
        <p:graphicFrame>
          <p:nvGraphicFramePr>
            <p:cNvPr id="11" name="Object 0"/>
            <p:cNvGraphicFramePr>
              <a:graphicFrameLocks noChangeAspect="1"/>
            </p:cNvGraphicFramePr>
            <p:nvPr/>
          </p:nvGraphicFramePr>
          <p:xfrm>
            <a:off x="1371600" y="2590800"/>
            <a:ext cx="6778625" cy="3386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Designer 3.1 Zeichnung" r:id="rId3" imgW="6776640" imgH="3385800" progId="">
                    <p:embed/>
                  </p:oleObj>
                </mc:Choice>
                <mc:Fallback>
                  <p:oleObj name="Designer 3.1 Zeichnung" r:id="rId3" imgW="6776640" imgH="33858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600" y="2590800"/>
                          <a:ext cx="6778625" cy="3386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393396" y="2627076"/>
              <a:ext cx="1471900" cy="83099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</a:rPr>
                <a:t>country road </a:t>
              </a:r>
              <a:r>
                <a:rPr lang="en-US" sz="1600">
                  <a:solidFill>
                    <a:srgbClr val="000000"/>
                  </a:solidFill>
                </a:rPr>
                <a:t>controller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4416425" y="4492625"/>
              <a:ext cx="1457325" cy="584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</a:rPr>
                <a:t>highway controller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1927225" y="4784725"/>
              <a:ext cx="1000125" cy="338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</a:rPr>
                <a:t>timer</a:t>
              </a:r>
            </a:p>
          </p:txBody>
        </p:sp>
        <p:graphicFrame>
          <p:nvGraphicFramePr>
            <p:cNvPr id="15" name="Group 44"/>
            <p:cNvGraphicFramePr>
              <a:graphicFrameLocks/>
            </p:cNvGraphicFramePr>
            <p:nvPr/>
          </p:nvGraphicFramePr>
          <p:xfrm>
            <a:off x="1701800" y="2667001"/>
            <a:ext cx="1294794" cy="411163"/>
          </p:xfrm>
          <a:graphic>
            <a:graphicData uri="http://schemas.openxmlformats.org/drawingml/2006/table">
              <a:tbl>
                <a:tblPr/>
                <a:tblGrid>
                  <a:gridCol w="1295400"/>
                </a:tblGrid>
                <a:tr h="411163">
                  <a:tc>
                    <a:txBody>
                      <a:bodyPr/>
                      <a:lstStyle/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rPr>
                          <a:t>sensor</a:t>
                        </a:r>
                      </a:p>
                    </a:txBody>
                    <a:tcPr horzOverflow="overflow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bg1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7634288" y="2687638"/>
              <a:ext cx="361950" cy="181588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L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I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G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H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S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600" b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121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3.4 Đèn điều khiển giao thông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3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Chương 3. Kiểm chứng mô hình và logic thời gian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905000" y="838200"/>
            <a:ext cx="8458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Khối sensor: phát hiện ô tô ở hướng không ưu tiên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Input: sensor = 1 khi có ô tô ở hướng không ưu tiên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Output: car = 1 khi có ô tô ở hướng không ưu tiên</a:t>
            </a:r>
          </a:p>
          <a:p>
            <a:pPr marL="798513" lvl="1" indent="-341313" eaLnBrk="0" fontAlgn="base" hangingPunct="0">
              <a:spcAft>
                <a:spcPct val="0"/>
              </a:spcAft>
              <a:tabLst>
                <a:tab pos="2286000" algn="l"/>
              </a:tabLst>
            </a:pPr>
            <a:endParaRPr lang="en-US" sz="2000" ker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endParaRPr lang="en-US" sz="24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3657600" y="2438400"/>
            <a:ext cx="4514992" cy="2544220"/>
            <a:chOff x="5378450" y="838200"/>
            <a:chExt cx="3545294" cy="2260490"/>
          </a:xfrm>
        </p:grpSpPr>
        <p:sp>
          <p:nvSpPr>
            <p:cNvPr id="17" name="Oval 29"/>
            <p:cNvSpPr>
              <a:spLocks noChangeArrowheads="1"/>
            </p:cNvSpPr>
            <p:nvPr/>
          </p:nvSpPr>
          <p:spPr bwMode="auto">
            <a:xfrm>
              <a:off x="5773737" y="1828800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2000" b="1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7932737" y="1828800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2000" b="1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19" name="Freeform 32"/>
            <p:cNvSpPr>
              <a:spLocks/>
            </p:cNvSpPr>
            <p:nvPr/>
          </p:nvSpPr>
          <p:spPr bwMode="auto">
            <a:xfrm flipH="1" flipV="1">
              <a:off x="6402387" y="2235200"/>
              <a:ext cx="1530350" cy="246108"/>
            </a:xfrm>
            <a:custGeom>
              <a:avLst/>
              <a:gdLst>
                <a:gd name="T0" fmla="*/ 0 w 1106"/>
                <a:gd name="T1" fmla="*/ 226620084 h 142"/>
                <a:gd name="T2" fmla="*/ 1085561803 w 1106"/>
                <a:gd name="T3" fmla="*/ 0 h 142"/>
                <a:gd name="T4" fmla="*/ 2117514334 w 1106"/>
                <a:gd name="T5" fmla="*/ 226620084 h 142"/>
                <a:gd name="T6" fmla="*/ 0 60000 65536"/>
                <a:gd name="T7" fmla="*/ 0 60000 65536"/>
                <a:gd name="T8" fmla="*/ 0 60000 65536"/>
                <a:gd name="T9" fmla="*/ 0 w 1106"/>
                <a:gd name="T10" fmla="*/ 0 h 142"/>
                <a:gd name="T11" fmla="*/ 1106 w 1106"/>
                <a:gd name="T12" fmla="*/ 142 h 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6" h="142">
                  <a:moveTo>
                    <a:pt x="0" y="142"/>
                  </a:moveTo>
                  <a:cubicBezTo>
                    <a:pt x="191" y="71"/>
                    <a:pt x="383" y="0"/>
                    <a:pt x="567" y="0"/>
                  </a:cubicBezTo>
                  <a:cubicBezTo>
                    <a:pt x="751" y="0"/>
                    <a:pt x="928" y="71"/>
                    <a:pt x="1106" y="14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" name="Arc 33"/>
            <p:cNvSpPr>
              <a:spLocks/>
            </p:cNvSpPr>
            <p:nvPr/>
          </p:nvSpPr>
          <p:spPr bwMode="auto">
            <a:xfrm flipH="1" flipV="1">
              <a:off x="5862637" y="1398565"/>
              <a:ext cx="447675" cy="246108"/>
            </a:xfrm>
            <a:custGeom>
              <a:avLst/>
              <a:gdLst>
                <a:gd name="T0" fmla="*/ 37522001 w 43200"/>
                <a:gd name="T1" fmla="*/ 465080 h 39588"/>
                <a:gd name="T2" fmla="*/ 10731235 w 43200"/>
                <a:gd name="T3" fmla="*/ 0 h 39588"/>
                <a:gd name="T4" fmla="*/ 24037641 w 43200"/>
                <a:gd name="T5" fmla="*/ 78201489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" name="Arc 35"/>
            <p:cNvSpPr>
              <a:spLocks/>
            </p:cNvSpPr>
            <p:nvPr/>
          </p:nvSpPr>
          <p:spPr bwMode="auto">
            <a:xfrm flipH="1" flipV="1">
              <a:off x="8023225" y="1398565"/>
              <a:ext cx="447675" cy="246108"/>
            </a:xfrm>
            <a:custGeom>
              <a:avLst/>
              <a:gdLst>
                <a:gd name="T0" fmla="*/ 37522001 w 43200"/>
                <a:gd name="T1" fmla="*/ 465080 h 39588"/>
                <a:gd name="T2" fmla="*/ 10731235 w 43200"/>
                <a:gd name="T3" fmla="*/ 0 h 39588"/>
                <a:gd name="T4" fmla="*/ 24037641 w 43200"/>
                <a:gd name="T5" fmla="*/ 78201489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2" name="Freeform 38"/>
            <p:cNvSpPr>
              <a:spLocks/>
            </p:cNvSpPr>
            <p:nvPr/>
          </p:nvSpPr>
          <p:spPr bwMode="auto">
            <a:xfrm>
              <a:off x="6400800" y="1828800"/>
              <a:ext cx="1530350" cy="246108"/>
            </a:xfrm>
            <a:custGeom>
              <a:avLst/>
              <a:gdLst>
                <a:gd name="T0" fmla="*/ 0 w 1106"/>
                <a:gd name="T1" fmla="*/ 226620084 h 142"/>
                <a:gd name="T2" fmla="*/ 1085561803 w 1106"/>
                <a:gd name="T3" fmla="*/ 0 h 142"/>
                <a:gd name="T4" fmla="*/ 2117514334 w 1106"/>
                <a:gd name="T5" fmla="*/ 226620084 h 142"/>
                <a:gd name="T6" fmla="*/ 0 60000 65536"/>
                <a:gd name="T7" fmla="*/ 0 60000 65536"/>
                <a:gd name="T8" fmla="*/ 0 60000 65536"/>
                <a:gd name="T9" fmla="*/ 0 w 1106"/>
                <a:gd name="T10" fmla="*/ 0 h 142"/>
                <a:gd name="T11" fmla="*/ 1106 w 1106"/>
                <a:gd name="T12" fmla="*/ 142 h 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6" h="142">
                  <a:moveTo>
                    <a:pt x="0" y="142"/>
                  </a:moveTo>
                  <a:cubicBezTo>
                    <a:pt x="191" y="71"/>
                    <a:pt x="383" y="0"/>
                    <a:pt x="567" y="0"/>
                  </a:cubicBezTo>
                  <a:cubicBezTo>
                    <a:pt x="751" y="0"/>
                    <a:pt x="928" y="71"/>
                    <a:pt x="1106" y="14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" name="Text Box 46"/>
            <p:cNvSpPr txBox="1">
              <a:spLocks noChangeArrowheads="1"/>
            </p:cNvSpPr>
            <p:nvPr/>
          </p:nvSpPr>
          <p:spPr bwMode="auto">
            <a:xfrm>
              <a:off x="5797290" y="838200"/>
              <a:ext cx="533698" cy="2461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</a:rPr>
                <a:t>!</a:t>
              </a:r>
              <a:r>
                <a:rPr lang="de-DE" i="1">
                  <a:solidFill>
                    <a:srgbClr val="000000"/>
                  </a:solidFill>
                  <a:latin typeface="Times New Roman" pitchFamily="18" charset="0"/>
                </a:rPr>
                <a:t>sensor</a:t>
              </a:r>
              <a:endParaRPr lang="en-US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4" name="Text Box 47"/>
            <p:cNvSpPr txBox="1">
              <a:spLocks noChangeArrowheads="1"/>
            </p:cNvSpPr>
            <p:nvPr/>
          </p:nvSpPr>
          <p:spPr bwMode="auto">
            <a:xfrm>
              <a:off x="7977186" y="838200"/>
              <a:ext cx="946558" cy="2461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sensor</a:t>
              </a: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  </a:t>
              </a:r>
              <a:r>
                <a:rPr lang="en-US" i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car</a:t>
              </a:r>
            </a:p>
          </p:txBody>
        </p:sp>
        <p:sp>
          <p:nvSpPr>
            <p:cNvPr id="25" name="Text Box 48"/>
            <p:cNvSpPr txBox="1">
              <a:spLocks noChangeArrowheads="1"/>
            </p:cNvSpPr>
            <p:nvPr/>
          </p:nvSpPr>
          <p:spPr bwMode="auto">
            <a:xfrm>
              <a:off x="6851650" y="2459038"/>
              <a:ext cx="996907" cy="2461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</a:rPr>
                <a:t>!sensor</a:t>
              </a: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  </a:t>
              </a:r>
              <a:r>
                <a:rPr lang="en-US" i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car</a:t>
              </a:r>
            </a:p>
          </p:txBody>
        </p:sp>
        <p:sp>
          <p:nvSpPr>
            <p:cNvPr id="26" name="Text Box 49"/>
            <p:cNvSpPr txBox="1">
              <a:spLocks noChangeArrowheads="1"/>
            </p:cNvSpPr>
            <p:nvPr/>
          </p:nvSpPr>
          <p:spPr bwMode="auto">
            <a:xfrm>
              <a:off x="7123112" y="1514475"/>
              <a:ext cx="473279" cy="2461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sensor</a:t>
              </a:r>
              <a:endParaRPr lang="en-US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7" name="Text Box 55"/>
            <p:cNvSpPr txBox="1">
              <a:spLocks noChangeArrowheads="1"/>
            </p:cNvSpPr>
            <p:nvPr/>
          </p:nvSpPr>
          <p:spPr bwMode="auto">
            <a:xfrm>
              <a:off x="6616482" y="2743200"/>
              <a:ext cx="1184709" cy="355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33CC"/>
                  </a:solidFill>
                </a:rPr>
                <a:t>sensor_fsm</a:t>
              </a:r>
              <a:endParaRPr lang="en-US" sz="2000">
                <a:solidFill>
                  <a:srgbClr val="0033CC"/>
                </a:solidFill>
              </a:endParaRPr>
            </a:p>
          </p:txBody>
        </p:sp>
        <p:sp>
          <p:nvSpPr>
            <p:cNvPr id="28" name="Line 56"/>
            <p:cNvSpPr>
              <a:spLocks noChangeShapeType="1"/>
            </p:cNvSpPr>
            <p:nvPr/>
          </p:nvSpPr>
          <p:spPr bwMode="auto">
            <a:xfrm flipV="1">
              <a:off x="5378450" y="2257425"/>
              <a:ext cx="404812" cy="17938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3.4 Đèn điều khiển giao thông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Chương 3. Kiểm chứng mô hình và logic thời gian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905000" y="838200"/>
            <a:ext cx="84582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Khối timer: đếm thời gian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Input: start = 1, khởi động lại bộ đếm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Output: timeout = 1 khi bộ đếm đến t; khi reset timeout = 1; trường hợp khác timeout = 0.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Output: Timeout = 1 khi bộ đếm đến T; khi reset timeout = 1; trường hợp khác timeout = 0.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endParaRPr lang="en-US" sz="24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05000" y="2880480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</a:rPr>
              <a:t>always</a:t>
            </a:r>
            <a:r>
              <a:rPr lang="en-US">
                <a:solidFill>
                  <a:srgbClr val="000000"/>
                </a:solidFill>
              </a:rPr>
              <a:t> @(</a:t>
            </a:r>
            <a:r>
              <a:rPr lang="en-US" b="1">
                <a:solidFill>
                  <a:srgbClr val="000000"/>
                </a:solidFill>
              </a:rPr>
              <a:t>posedge</a:t>
            </a:r>
            <a:r>
              <a:rPr lang="en-US">
                <a:solidFill>
                  <a:srgbClr val="000000"/>
                </a:solidFill>
              </a:rPr>
              <a:t> clk or </a:t>
            </a:r>
            <a:r>
              <a:rPr lang="en-US" b="1">
                <a:solidFill>
                  <a:srgbClr val="000000"/>
                </a:solidFill>
              </a:rPr>
              <a:t>negedge</a:t>
            </a:r>
            <a:r>
              <a:rPr lang="en-US">
                <a:solidFill>
                  <a:srgbClr val="000000"/>
                </a:solidFill>
              </a:rPr>
              <a:t> rst_n)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 b="1">
                <a:solidFill>
                  <a:srgbClr val="000000"/>
                </a:solidFill>
              </a:rPr>
              <a:t>begin</a:t>
            </a:r>
            <a:r>
              <a:rPr lang="en-US">
                <a:solidFill>
                  <a:srgbClr val="000000"/>
                </a:solidFill>
              </a:rPr>
              <a:t/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</a:t>
            </a:r>
            <a:r>
              <a:rPr lang="en-US" b="1">
                <a:solidFill>
                  <a:srgbClr val="000000"/>
                </a:solidFill>
              </a:rPr>
              <a:t>if</a:t>
            </a:r>
            <a:r>
              <a:rPr lang="en-US">
                <a:solidFill>
                  <a:srgbClr val="000000"/>
                </a:solidFill>
              </a:rPr>
              <a:t> (!rst_n)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  counter &lt;= 1;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</a:t>
            </a:r>
            <a:r>
              <a:rPr lang="en-US" b="1">
                <a:solidFill>
                  <a:srgbClr val="000000"/>
                </a:solidFill>
              </a:rPr>
              <a:t>else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b="1">
                <a:solidFill>
                  <a:srgbClr val="000000"/>
                </a:solidFill>
              </a:rPr>
              <a:t>begin</a:t>
            </a:r>
            <a:r>
              <a:rPr lang="en-US">
                <a:solidFill>
                  <a:srgbClr val="000000"/>
                </a:solidFill>
              </a:rPr>
              <a:t/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  </a:t>
            </a:r>
            <a:r>
              <a:rPr lang="en-US" b="1">
                <a:solidFill>
                  <a:srgbClr val="000000"/>
                </a:solidFill>
              </a:rPr>
              <a:t>if</a:t>
            </a:r>
            <a:r>
              <a:rPr lang="en-US">
                <a:solidFill>
                  <a:srgbClr val="000000"/>
                </a:solidFill>
              </a:rPr>
              <a:t> (start) counter &lt;= 1;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  </a:t>
            </a:r>
            <a:r>
              <a:rPr lang="en-US" b="1">
                <a:solidFill>
                  <a:srgbClr val="000000"/>
                </a:solidFill>
              </a:rPr>
              <a:t>else</a:t>
            </a:r>
            <a:r>
              <a:rPr lang="en-US">
                <a:solidFill>
                  <a:srgbClr val="000000"/>
                </a:solidFill>
              </a:rPr>
              <a:t> counter &lt;= counter+1;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</a:t>
            </a:r>
            <a:r>
              <a:rPr lang="en-US" b="1">
                <a:solidFill>
                  <a:srgbClr val="000000"/>
                </a:solidFill>
              </a:rPr>
              <a:t>end</a:t>
            </a:r>
            <a:r>
              <a:rPr lang="en-US">
                <a:solidFill>
                  <a:srgbClr val="000000"/>
                </a:solidFill>
              </a:rPr>
              <a:t> 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 b="1">
                <a:solidFill>
                  <a:srgbClr val="000000"/>
                </a:solidFill>
              </a:rPr>
              <a:t>end</a:t>
            </a:r>
            <a:r>
              <a:rPr lang="en-US">
                <a:solidFill>
                  <a:srgbClr val="000000"/>
                </a:solidFill>
              </a:rPr>
              <a:t/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 b="1">
                <a:solidFill>
                  <a:srgbClr val="000000"/>
                </a:solidFill>
              </a:rPr>
              <a:t>assign</a:t>
            </a:r>
            <a:r>
              <a:rPr lang="en-US">
                <a:solidFill>
                  <a:srgbClr val="000000"/>
                </a:solidFill>
              </a:rPr>
              <a:t> Timeout = (counter == green_timeout);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 b="1">
                <a:solidFill>
                  <a:srgbClr val="000000"/>
                </a:solidFill>
              </a:rPr>
              <a:t>assign</a:t>
            </a:r>
            <a:r>
              <a:rPr lang="en-US">
                <a:solidFill>
                  <a:srgbClr val="000000"/>
                </a:solidFill>
              </a:rPr>
              <a:t> timeout = (counter == yellow_timeout);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6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3.4 Đèn điều khiển giao thông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Chương 3. Kiểm chứng mô hình và logic thời gian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2209800" y="914401"/>
            <a:ext cx="7848600" cy="4975285"/>
            <a:chOff x="611188" y="1403350"/>
            <a:chExt cx="7848600" cy="4975285"/>
          </a:xfrm>
        </p:grpSpPr>
        <p:sp>
          <p:nvSpPr>
            <p:cNvPr id="8" name="Line 57"/>
            <p:cNvSpPr>
              <a:spLocks noChangeShapeType="1"/>
            </p:cNvSpPr>
            <p:nvPr/>
          </p:nvSpPr>
          <p:spPr bwMode="auto">
            <a:xfrm flipV="1">
              <a:off x="6057900" y="4464050"/>
              <a:ext cx="404813" cy="17938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" name="Line 4"/>
            <p:cNvSpPr>
              <a:spLocks noChangeShapeType="1"/>
            </p:cNvSpPr>
            <p:nvPr/>
          </p:nvSpPr>
          <p:spPr bwMode="auto">
            <a:xfrm flipV="1">
              <a:off x="611188" y="2843213"/>
              <a:ext cx="404812" cy="17938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1019175" y="2393950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rgbClr val="0099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9900"/>
                  </a:solidFill>
                </a:rPr>
                <a:t>green</a:t>
              </a:r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2098675" y="4014788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FF0000"/>
                  </a:solidFill>
                </a:rPr>
                <a:t>red</a:t>
              </a:r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3178175" y="2393950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rgbClr val="FFCC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FFCC00"/>
                  </a:solidFill>
                </a:rPr>
                <a:t>yellow</a:t>
              </a:r>
            </a:p>
          </p:txBody>
        </p:sp>
        <p:sp>
          <p:nvSpPr>
            <p:cNvPr id="14" name="Arc 9"/>
            <p:cNvSpPr>
              <a:spLocks/>
            </p:cNvSpPr>
            <p:nvPr/>
          </p:nvSpPr>
          <p:spPr bwMode="auto">
            <a:xfrm flipH="1" flipV="1">
              <a:off x="1108075" y="1948269"/>
              <a:ext cx="447675" cy="276999"/>
            </a:xfrm>
            <a:custGeom>
              <a:avLst/>
              <a:gdLst>
                <a:gd name="T0" fmla="*/ 37522001 w 43200"/>
                <a:gd name="T1" fmla="*/ 465080 h 39588"/>
                <a:gd name="T2" fmla="*/ 10731235 w 43200"/>
                <a:gd name="T3" fmla="*/ 0 h 39588"/>
                <a:gd name="T4" fmla="*/ 24037641 w 43200"/>
                <a:gd name="T5" fmla="*/ 78201489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" name="Arc 10"/>
            <p:cNvSpPr>
              <a:spLocks/>
            </p:cNvSpPr>
            <p:nvPr/>
          </p:nvSpPr>
          <p:spPr bwMode="auto">
            <a:xfrm>
              <a:off x="2189163" y="4813707"/>
              <a:ext cx="447675" cy="276999"/>
            </a:xfrm>
            <a:custGeom>
              <a:avLst/>
              <a:gdLst>
                <a:gd name="T0" fmla="*/ 37522001 w 43200"/>
                <a:gd name="T1" fmla="*/ 465081 h 39588"/>
                <a:gd name="T2" fmla="*/ 10731235 w 43200"/>
                <a:gd name="T3" fmla="*/ 0 h 39588"/>
                <a:gd name="T4" fmla="*/ 24037641 w 43200"/>
                <a:gd name="T5" fmla="*/ 78201937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" name="Arc 11"/>
            <p:cNvSpPr>
              <a:spLocks/>
            </p:cNvSpPr>
            <p:nvPr/>
          </p:nvSpPr>
          <p:spPr bwMode="auto">
            <a:xfrm flipH="1" flipV="1">
              <a:off x="3268663" y="1948269"/>
              <a:ext cx="447675" cy="276999"/>
            </a:xfrm>
            <a:custGeom>
              <a:avLst/>
              <a:gdLst>
                <a:gd name="T0" fmla="*/ 37522001 w 43200"/>
                <a:gd name="T1" fmla="*/ 465080 h 39588"/>
                <a:gd name="T2" fmla="*/ 10731235 w 43200"/>
                <a:gd name="T3" fmla="*/ 0 h 39588"/>
                <a:gd name="T4" fmla="*/ 24037641 w 43200"/>
                <a:gd name="T5" fmla="*/ 78201489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H="1">
              <a:off x="2593975" y="2979738"/>
              <a:ext cx="719138" cy="1079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H="1" flipV="1">
              <a:off x="1468438" y="2979738"/>
              <a:ext cx="719137" cy="1079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701675" y="1403350"/>
              <a:ext cx="1458913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!</a:t>
              </a:r>
              <a:r>
                <a:rPr lang="de-DE" i="1">
                  <a:solidFill>
                    <a:srgbClr val="000000"/>
                  </a:solidFill>
                  <a:latin typeface="Times New Roman" pitchFamily="18" charset="0"/>
                </a:rPr>
                <a:t>car</a:t>
              </a:r>
              <a:r>
                <a:rPr lang="de-DE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 !</a:t>
              </a:r>
              <a:r>
                <a:rPr lang="de-DE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Timeout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086100" y="1403350"/>
              <a:ext cx="762000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!</a:t>
              </a:r>
              <a:r>
                <a:rPr lang="en-US" i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timeout</a:t>
              </a: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916113" y="5319713"/>
              <a:ext cx="914400" cy="2746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</a:rPr>
                <a:t>!</a:t>
              </a:r>
              <a:r>
                <a:rPr lang="de-DE" i="1">
                  <a:solidFill>
                    <a:srgbClr val="000000"/>
                  </a:solidFill>
                  <a:latin typeface="Times New Roman" pitchFamily="18" charset="0"/>
                </a:rPr>
                <a:t>enable_h</a:t>
              </a:r>
              <a:endParaRPr lang="en-US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1652582" y="5978525"/>
              <a:ext cx="160973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33CC"/>
                  </a:solidFill>
                </a:rPr>
                <a:t>highway </a:t>
              </a:r>
              <a:r>
                <a:rPr lang="en-US" sz="2000">
                  <a:solidFill>
                    <a:srgbClr val="0033CC"/>
                  </a:solidFill>
                </a:rPr>
                <a:t>fsm</a:t>
              </a:r>
              <a:endParaRPr lang="en-US" sz="2000">
                <a:solidFill>
                  <a:srgbClr val="0033CC"/>
                </a:solidFill>
              </a:endParaRPr>
            </a:p>
          </p:txBody>
        </p:sp>
        <p:grpSp>
          <p:nvGrpSpPr>
            <p:cNvPr id="23" name="Group 26"/>
            <p:cNvGrpSpPr>
              <a:grpSpLocks/>
            </p:cNvGrpSpPr>
            <p:nvPr/>
          </p:nvGrpSpPr>
          <p:grpSpPr bwMode="auto">
            <a:xfrm>
              <a:off x="1749425" y="2124075"/>
              <a:ext cx="1363663" cy="549275"/>
              <a:chOff x="1102" y="1139"/>
              <a:chExt cx="859" cy="346"/>
            </a:xfrm>
          </p:grpSpPr>
          <p:sp>
            <p:nvSpPr>
              <p:cNvPr id="24" name="Text Box 23"/>
              <p:cNvSpPr txBox="1">
                <a:spLocks noChangeArrowheads="1"/>
              </p:cNvSpPr>
              <p:nvPr/>
            </p:nvSpPr>
            <p:spPr bwMode="auto">
              <a:xfrm>
                <a:off x="1102" y="1139"/>
                <a:ext cx="859" cy="3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</a:rPr>
                  <a:t>car</a:t>
                </a: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 </a:t>
                </a: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Timeout</a:t>
                </a: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 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i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start_h</a:t>
                </a:r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>
                <a:off x="1151" y="1338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1646238" y="2708275"/>
              <a:ext cx="1530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27" name="Group 28"/>
            <p:cNvGrpSpPr>
              <a:grpSpLocks/>
            </p:cNvGrpSpPr>
            <p:nvPr/>
          </p:nvGrpSpPr>
          <p:grpSpPr bwMode="auto">
            <a:xfrm>
              <a:off x="2997200" y="3384550"/>
              <a:ext cx="1123950" cy="549275"/>
              <a:chOff x="1151" y="1142"/>
              <a:chExt cx="708" cy="346"/>
            </a:xfrm>
          </p:grpSpPr>
          <p:sp>
            <p:nvSpPr>
              <p:cNvPr id="28" name="Text Box 29"/>
              <p:cNvSpPr txBox="1">
                <a:spLocks noChangeArrowheads="1"/>
              </p:cNvSpPr>
              <p:nvPr/>
            </p:nvSpPr>
            <p:spPr bwMode="auto">
              <a:xfrm>
                <a:off x="1267" y="1142"/>
                <a:ext cx="528" cy="3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</a:rPr>
                  <a:t>timeout</a:t>
                </a:r>
                <a:endPara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i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enable_n</a:t>
                </a:r>
              </a:p>
            </p:txBody>
          </p:sp>
          <p:sp>
            <p:nvSpPr>
              <p:cNvPr id="29" name="Line 30"/>
              <p:cNvSpPr>
                <a:spLocks noChangeShapeType="1"/>
              </p:cNvSpPr>
              <p:nvPr/>
            </p:nvSpPr>
            <p:spPr bwMode="auto">
              <a:xfrm>
                <a:off x="1151" y="1338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0" name="Group 31"/>
            <p:cNvGrpSpPr>
              <a:grpSpLocks/>
            </p:cNvGrpSpPr>
            <p:nvPr/>
          </p:nvGrpSpPr>
          <p:grpSpPr bwMode="auto">
            <a:xfrm>
              <a:off x="657225" y="3384550"/>
              <a:ext cx="1123950" cy="549275"/>
              <a:chOff x="1151" y="1142"/>
              <a:chExt cx="708" cy="346"/>
            </a:xfrm>
          </p:grpSpPr>
          <p:sp>
            <p:nvSpPr>
              <p:cNvPr id="31" name="Text Box 32"/>
              <p:cNvSpPr txBox="1">
                <a:spLocks noChangeArrowheads="1"/>
              </p:cNvSpPr>
              <p:nvPr/>
            </p:nvSpPr>
            <p:spPr bwMode="auto">
              <a:xfrm>
                <a:off x="1267" y="1142"/>
                <a:ext cx="528" cy="3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</a:rPr>
                  <a:t>enable_h</a:t>
                </a:r>
                <a:endPara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i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start_h</a:t>
                </a:r>
              </a:p>
            </p:txBody>
          </p:sp>
          <p:sp>
            <p:nvSpPr>
              <p:cNvPr id="32" name="Line 33"/>
              <p:cNvSpPr>
                <a:spLocks noChangeShapeType="1"/>
              </p:cNvSpPr>
              <p:nvPr/>
            </p:nvSpPr>
            <p:spPr bwMode="auto">
              <a:xfrm>
                <a:off x="1151" y="1338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" name="Oval 35"/>
            <p:cNvSpPr>
              <a:spLocks noChangeArrowheads="1"/>
            </p:cNvSpPr>
            <p:nvPr/>
          </p:nvSpPr>
          <p:spPr bwMode="auto">
            <a:xfrm>
              <a:off x="5357813" y="2393950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rgbClr val="0099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9900"/>
                  </a:solidFill>
                </a:rPr>
                <a:t>green</a:t>
              </a:r>
            </a:p>
          </p:txBody>
        </p:sp>
        <p:sp>
          <p:nvSpPr>
            <p:cNvPr id="34" name="Oval 36"/>
            <p:cNvSpPr>
              <a:spLocks noChangeArrowheads="1"/>
            </p:cNvSpPr>
            <p:nvPr/>
          </p:nvSpPr>
          <p:spPr bwMode="auto">
            <a:xfrm>
              <a:off x="6437313" y="4014788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FF0000"/>
                  </a:solidFill>
                </a:rPr>
                <a:t>red</a:t>
              </a:r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7516813" y="2393950"/>
              <a:ext cx="628650" cy="628650"/>
            </a:xfrm>
            <a:prstGeom prst="ellipse">
              <a:avLst/>
            </a:prstGeom>
            <a:solidFill>
              <a:srgbClr val="FFFFFF"/>
            </a:solidFill>
            <a:ln w="38100" algn="ctr">
              <a:solidFill>
                <a:srgbClr val="FFCC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FFCC00"/>
                  </a:solidFill>
                </a:rPr>
                <a:t>yellow</a:t>
              </a:r>
            </a:p>
          </p:txBody>
        </p:sp>
        <p:sp>
          <p:nvSpPr>
            <p:cNvPr id="36" name="Arc 38"/>
            <p:cNvSpPr>
              <a:spLocks/>
            </p:cNvSpPr>
            <p:nvPr/>
          </p:nvSpPr>
          <p:spPr bwMode="auto">
            <a:xfrm flipH="1" flipV="1">
              <a:off x="5446713" y="1948269"/>
              <a:ext cx="447675" cy="276999"/>
            </a:xfrm>
            <a:custGeom>
              <a:avLst/>
              <a:gdLst>
                <a:gd name="T0" fmla="*/ 37522001 w 43200"/>
                <a:gd name="T1" fmla="*/ 465080 h 39588"/>
                <a:gd name="T2" fmla="*/ 10731235 w 43200"/>
                <a:gd name="T3" fmla="*/ 0 h 39588"/>
                <a:gd name="T4" fmla="*/ 24037641 w 43200"/>
                <a:gd name="T5" fmla="*/ 78201489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7" name="Arc 39"/>
            <p:cNvSpPr>
              <a:spLocks/>
            </p:cNvSpPr>
            <p:nvPr/>
          </p:nvSpPr>
          <p:spPr bwMode="auto">
            <a:xfrm>
              <a:off x="6527800" y="4813707"/>
              <a:ext cx="447675" cy="276999"/>
            </a:xfrm>
            <a:custGeom>
              <a:avLst/>
              <a:gdLst>
                <a:gd name="T0" fmla="*/ 37522001 w 43200"/>
                <a:gd name="T1" fmla="*/ 465081 h 39588"/>
                <a:gd name="T2" fmla="*/ 10731235 w 43200"/>
                <a:gd name="T3" fmla="*/ 0 h 39588"/>
                <a:gd name="T4" fmla="*/ 24037641 w 43200"/>
                <a:gd name="T5" fmla="*/ 78201937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8" name="Arc 40"/>
            <p:cNvSpPr>
              <a:spLocks/>
            </p:cNvSpPr>
            <p:nvPr/>
          </p:nvSpPr>
          <p:spPr bwMode="auto">
            <a:xfrm flipH="1" flipV="1">
              <a:off x="7607300" y="1948269"/>
              <a:ext cx="447675" cy="276999"/>
            </a:xfrm>
            <a:custGeom>
              <a:avLst/>
              <a:gdLst>
                <a:gd name="T0" fmla="*/ 37522001 w 43200"/>
                <a:gd name="T1" fmla="*/ 465080 h 39588"/>
                <a:gd name="T2" fmla="*/ 10731235 w 43200"/>
                <a:gd name="T3" fmla="*/ 0 h 39588"/>
                <a:gd name="T4" fmla="*/ 24037641 w 43200"/>
                <a:gd name="T5" fmla="*/ 78201489 h 3958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588"/>
                <a:gd name="T11" fmla="*/ 43200 w 43200"/>
                <a:gd name="T12" fmla="*/ 39588 h 3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588" fill="none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</a:path>
                <a:path w="43200" h="39588" stroke="0" extrusionOk="0">
                  <a:moveTo>
                    <a:pt x="33717" y="106"/>
                  </a:moveTo>
                  <a:cubicBezTo>
                    <a:pt x="39647" y="4125"/>
                    <a:pt x="43200" y="10823"/>
                    <a:pt x="43200" y="17988"/>
                  </a:cubicBezTo>
                  <a:cubicBezTo>
                    <a:pt x="43200" y="29917"/>
                    <a:pt x="33529" y="39588"/>
                    <a:pt x="21600" y="39588"/>
                  </a:cubicBezTo>
                  <a:cubicBezTo>
                    <a:pt x="9670" y="39588"/>
                    <a:pt x="0" y="29917"/>
                    <a:pt x="0" y="17988"/>
                  </a:cubicBezTo>
                  <a:cubicBezTo>
                    <a:pt x="-1" y="10755"/>
                    <a:pt x="3619" y="4003"/>
                    <a:pt x="9642" y="-1"/>
                  </a:cubicBezTo>
                  <a:lnTo>
                    <a:pt x="21600" y="179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H="1">
              <a:off x="6932613" y="2979738"/>
              <a:ext cx="719137" cy="1079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 flipH="1" flipV="1">
              <a:off x="5807075" y="2979738"/>
              <a:ext cx="719138" cy="1079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5040313" y="1403350"/>
              <a:ext cx="1382712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i="1">
                  <a:solidFill>
                    <a:srgbClr val="000000"/>
                  </a:solidFill>
                  <a:latin typeface="Times New Roman" pitchFamily="18" charset="0"/>
                </a:rPr>
                <a:t>car</a:t>
              </a:r>
              <a:r>
                <a:rPr lang="de-DE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 !</a:t>
              </a:r>
              <a:r>
                <a:rPr lang="de-DE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Timeout</a:t>
              </a: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7424738" y="1403350"/>
              <a:ext cx="762000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!</a:t>
              </a:r>
              <a:r>
                <a:rPr lang="en-US" i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timeout</a:t>
              </a: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6254750" y="5319713"/>
              <a:ext cx="914400" cy="2746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>
                  <a:solidFill>
                    <a:srgbClr val="000000"/>
                  </a:solidFill>
                  <a:latin typeface="Times New Roman" pitchFamily="18" charset="0"/>
                </a:rPr>
                <a:t>!</a:t>
              </a:r>
              <a:r>
                <a:rPr lang="de-DE" i="1">
                  <a:solidFill>
                    <a:srgbClr val="000000"/>
                  </a:solidFill>
                  <a:latin typeface="Times New Roman" pitchFamily="18" charset="0"/>
                </a:rPr>
                <a:t>enable_n</a:t>
              </a:r>
              <a:endParaRPr lang="en-US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auto">
            <a:xfrm>
              <a:off x="5757120" y="5957888"/>
              <a:ext cx="209063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33CC"/>
                  </a:solidFill>
                </a:rPr>
                <a:t>country road </a:t>
              </a:r>
              <a:r>
                <a:rPr lang="en-US" sz="2000">
                  <a:solidFill>
                    <a:srgbClr val="0033CC"/>
                  </a:solidFill>
                </a:rPr>
                <a:t>fsm</a:t>
              </a:r>
              <a:endParaRPr lang="en-US" sz="2000">
                <a:solidFill>
                  <a:srgbClr val="0033CC"/>
                </a:solidFill>
              </a:endParaRPr>
            </a:p>
          </p:txBody>
        </p:sp>
        <p:grpSp>
          <p:nvGrpSpPr>
            <p:cNvPr id="45" name="Group 47"/>
            <p:cNvGrpSpPr>
              <a:grpSpLocks/>
            </p:cNvGrpSpPr>
            <p:nvPr/>
          </p:nvGrpSpPr>
          <p:grpSpPr bwMode="auto">
            <a:xfrm>
              <a:off x="6049963" y="2124075"/>
              <a:ext cx="1439862" cy="549275"/>
              <a:chOff x="1078" y="1139"/>
              <a:chExt cx="907" cy="346"/>
            </a:xfrm>
          </p:grpSpPr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1078" y="1139"/>
                <a:ext cx="907" cy="3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</a:rPr>
                  <a:t>!</a:t>
                </a: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</a:rPr>
                  <a:t>car</a:t>
                </a: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 </a:t>
                </a: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Timeout</a:t>
                </a:r>
                <a:r>
                  <a:rPr lang="de-DE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 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i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start_n</a:t>
                </a:r>
              </a:p>
            </p:txBody>
          </p:sp>
          <p:sp>
            <p:nvSpPr>
              <p:cNvPr id="47" name="Line 49"/>
              <p:cNvSpPr>
                <a:spLocks noChangeShapeType="1"/>
              </p:cNvSpPr>
              <p:nvPr/>
            </p:nvSpPr>
            <p:spPr bwMode="auto">
              <a:xfrm>
                <a:off x="1151" y="1338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5984875" y="2708275"/>
              <a:ext cx="1530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0" name="Group 51"/>
            <p:cNvGrpSpPr>
              <a:grpSpLocks/>
            </p:cNvGrpSpPr>
            <p:nvPr/>
          </p:nvGrpSpPr>
          <p:grpSpPr bwMode="auto">
            <a:xfrm>
              <a:off x="7335838" y="3384550"/>
              <a:ext cx="1123950" cy="549275"/>
              <a:chOff x="1151" y="1142"/>
              <a:chExt cx="708" cy="346"/>
            </a:xfrm>
          </p:grpSpPr>
          <p:sp>
            <p:nvSpPr>
              <p:cNvPr id="51" name="Text Box 52"/>
              <p:cNvSpPr txBox="1">
                <a:spLocks noChangeArrowheads="1"/>
              </p:cNvSpPr>
              <p:nvPr/>
            </p:nvSpPr>
            <p:spPr bwMode="auto">
              <a:xfrm>
                <a:off x="1267" y="1142"/>
                <a:ext cx="528" cy="3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</a:rPr>
                  <a:t>timeout</a:t>
                </a:r>
                <a:endPara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i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enable_h</a:t>
                </a:r>
              </a:p>
            </p:txBody>
          </p:sp>
          <p:sp>
            <p:nvSpPr>
              <p:cNvPr id="52" name="Line 53"/>
              <p:cNvSpPr>
                <a:spLocks noChangeShapeType="1"/>
              </p:cNvSpPr>
              <p:nvPr/>
            </p:nvSpPr>
            <p:spPr bwMode="auto">
              <a:xfrm>
                <a:off x="1151" y="1338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3" name="Group 54"/>
            <p:cNvGrpSpPr>
              <a:grpSpLocks/>
            </p:cNvGrpSpPr>
            <p:nvPr/>
          </p:nvGrpSpPr>
          <p:grpSpPr bwMode="auto">
            <a:xfrm>
              <a:off x="4995863" y="3384550"/>
              <a:ext cx="1123950" cy="549275"/>
              <a:chOff x="1151" y="1142"/>
              <a:chExt cx="708" cy="346"/>
            </a:xfrm>
          </p:grpSpPr>
          <p:sp>
            <p:nvSpPr>
              <p:cNvPr id="54" name="Text Box 55"/>
              <p:cNvSpPr txBox="1">
                <a:spLocks noChangeArrowheads="1"/>
              </p:cNvSpPr>
              <p:nvPr/>
            </p:nvSpPr>
            <p:spPr bwMode="auto">
              <a:xfrm>
                <a:off x="1267" y="1142"/>
                <a:ext cx="528" cy="3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i="1">
                    <a:solidFill>
                      <a:srgbClr val="000000"/>
                    </a:solidFill>
                    <a:latin typeface="Times New Roman" pitchFamily="18" charset="0"/>
                  </a:rPr>
                  <a:t>enable_n</a:t>
                </a:r>
                <a:endParaRPr lang="de-DE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i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start_n</a:t>
                </a:r>
              </a:p>
            </p:txBody>
          </p:sp>
          <p:sp>
            <p:nvSpPr>
              <p:cNvPr id="55" name="Line 56"/>
              <p:cNvSpPr>
                <a:spLocks noChangeShapeType="1"/>
              </p:cNvSpPr>
              <p:nvPr/>
            </p:nvSpPr>
            <p:spPr bwMode="auto">
              <a:xfrm>
                <a:off x="1151" y="1338"/>
                <a:ext cx="7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204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3.4 Đèn điều khiển giao thông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HUST-SET, </a:t>
            </a:r>
            <a:fld id="{7247B10F-F915-4C1B-B165-4B8EA3CF8261}" type="datetime1">
              <a:rPr lang="vi-VN" smtClean="0">
                <a:solidFill>
                  <a:srgbClr val="000000">
                    <a:tint val="75000"/>
                  </a:srgbClr>
                </a:solidFill>
              </a:rPr>
              <a:pPr algn="r"/>
              <a:t>07/04/2014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D2BF57BF-E7CD-45E1-AADF-EBA0643F2BA7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algn="ctr"/>
              <a:t>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Chương 3. Kiểm chứng mô hình và logic thời gian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905000" y="838200"/>
            <a:ext cx="8458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1313" indent="-341313" eaLnBrk="0" fontAlgn="base" hangingPunct="0">
              <a:spcAft>
                <a:spcPct val="0"/>
              </a:spcAft>
              <a:buFont typeface="Wingdings" pitchFamily="2" charset="2"/>
              <a:buChar char="v"/>
              <a:tabLst>
                <a:tab pos="2286000" algn="l"/>
              </a:tabLst>
              <a:defRPr/>
            </a:pPr>
            <a:r>
              <a:rPr lang="en-US" sz="24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Các thuộc tính nào?</a:t>
            </a: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Đèn xanh không bao giờ xuất hiện ở cả 2 hướng (thuộc tính an toàn – </a:t>
            </a:r>
            <a:r>
              <a:rPr lang="en-US" sz="2000" i="1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eng. safety property</a:t>
            </a: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798513" lvl="1" indent="-341313" eaLnBrk="0" fontAlgn="base" hangingPunct="0">
              <a:spcAft>
                <a:spcPct val="0"/>
              </a:spcAft>
              <a:tabLst>
                <a:tab pos="2286000" algn="l"/>
              </a:tabLst>
            </a:pPr>
            <a:r>
              <a:rPr lang="en-US" sz="2000">
                <a:solidFill>
                  <a:srgbClr val="008000"/>
                </a:solidFill>
              </a:rPr>
              <a:t>		AG(</a:t>
            </a:r>
            <a:r>
              <a:rPr lang="en-US" sz="2000">
                <a:solidFill>
                  <a:srgbClr val="008000"/>
                </a:solidFill>
                <a:sym typeface="Symbol" pitchFamily="18" charset="2"/>
              </a:rPr>
              <a:t></a:t>
            </a:r>
            <a:r>
              <a:rPr lang="en-US" sz="2000">
                <a:solidFill>
                  <a:srgbClr val="008000"/>
                </a:solidFill>
              </a:rPr>
              <a:t>(</a:t>
            </a:r>
            <a:r>
              <a:rPr lang="en-US" sz="2000" i="1">
                <a:solidFill>
                  <a:srgbClr val="008000"/>
                </a:solidFill>
              </a:rPr>
              <a:t>highway_green</a:t>
            </a:r>
            <a:r>
              <a:rPr lang="en-US" sz="2000">
                <a:solidFill>
                  <a:srgbClr val="008000"/>
                </a:solidFill>
              </a:rPr>
              <a:t> </a:t>
            </a:r>
            <a:r>
              <a:rPr lang="en-US" sz="2000">
                <a:solidFill>
                  <a:srgbClr val="008000"/>
                </a:solidFill>
                <a:sym typeface="Symbol" pitchFamily="18" charset="2"/>
              </a:rPr>
              <a:t></a:t>
            </a:r>
            <a:r>
              <a:rPr lang="en-US" sz="2000">
                <a:solidFill>
                  <a:srgbClr val="008000"/>
                </a:solidFill>
              </a:rPr>
              <a:t> </a:t>
            </a:r>
            <a:r>
              <a:rPr lang="en-US" sz="2000" i="1">
                <a:solidFill>
                  <a:srgbClr val="008000"/>
                </a:solidFill>
              </a:rPr>
              <a:t>country_green</a:t>
            </a:r>
            <a:r>
              <a:rPr lang="en-US" sz="2000">
                <a:solidFill>
                  <a:srgbClr val="008000"/>
                </a:solidFill>
              </a:rPr>
              <a:t>))</a:t>
            </a:r>
            <a:endParaRPr lang="en-US" sz="2000" ker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endParaRPr lang="en-US" sz="2000" ker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Khi có ô tô đến ở hướng không ưu tiên, nó sẽ chắc chắn được có đèn xanh (thuộc tính sống – </a:t>
            </a:r>
            <a:r>
              <a:rPr lang="en-US" sz="2000" i="1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eng. liveness property</a:t>
            </a: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798513" lvl="1" indent="-341313" eaLnBrk="0" fontAlgn="base" hangingPunct="0">
              <a:spcAft>
                <a:spcPct val="0"/>
              </a:spcAft>
              <a:tabLst>
                <a:tab pos="2286000" algn="l"/>
              </a:tabLst>
            </a:pPr>
            <a:r>
              <a:rPr lang="en-US" sz="2000">
                <a:solidFill>
                  <a:srgbClr val="000000"/>
                </a:solidFill>
              </a:rPr>
              <a:t>		</a:t>
            </a:r>
            <a:r>
              <a:rPr lang="en-US" sz="2000">
                <a:solidFill>
                  <a:srgbClr val="008000"/>
                </a:solidFill>
              </a:rPr>
              <a:t>AG(</a:t>
            </a:r>
            <a:r>
              <a:rPr lang="en-US" sz="2000" i="1">
                <a:solidFill>
                  <a:srgbClr val="008000"/>
                </a:solidFill>
              </a:rPr>
              <a:t>car</a:t>
            </a:r>
            <a:r>
              <a:rPr lang="en-US" sz="2000">
                <a:solidFill>
                  <a:srgbClr val="008000"/>
                </a:solidFill>
              </a:rPr>
              <a:t> </a:t>
            </a:r>
            <a:r>
              <a:rPr lang="en-US" sz="2000">
                <a:solidFill>
                  <a:srgbClr val="008000"/>
                </a:solidFill>
                <a:sym typeface="Symbol" pitchFamily="18" charset="2"/>
              </a:rPr>
              <a:t></a:t>
            </a:r>
            <a:r>
              <a:rPr lang="en-US" sz="2000">
                <a:solidFill>
                  <a:srgbClr val="008000"/>
                </a:solidFill>
              </a:rPr>
              <a:t> AF </a:t>
            </a:r>
            <a:r>
              <a:rPr lang="en-US" sz="2000" i="1">
                <a:solidFill>
                  <a:srgbClr val="008000"/>
                </a:solidFill>
              </a:rPr>
              <a:t>country_green</a:t>
            </a:r>
            <a:r>
              <a:rPr lang="en-US" sz="2000">
                <a:solidFill>
                  <a:srgbClr val="008000"/>
                </a:solidFill>
              </a:rPr>
              <a:t>)</a:t>
            </a:r>
            <a:endParaRPr lang="en-US" sz="2000" ker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endParaRPr lang="en-US" sz="2000" ker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98513" lvl="1" indent="-341313" eaLnBrk="0" fontAlgn="base" hangingPunct="0">
              <a:spcAft>
                <a:spcPct val="0"/>
              </a:spcAft>
              <a:buFont typeface="Wingdings" pitchFamily="2" charset="2"/>
              <a:buChar char="q"/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Đèn xanh sẽ luôn luôn có ở hướng ưu tiên, cho dù có điều gì ở hướng không ưu tiên (thuộc tính sống – </a:t>
            </a:r>
            <a:r>
              <a:rPr lang="en-US" sz="2000" i="1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eng. liveness property</a:t>
            </a: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798513" lvl="1" indent="-341313" eaLnBrk="0" fontAlgn="base" hangingPunct="0">
              <a:spcAft>
                <a:spcPct val="0"/>
              </a:spcAft>
              <a:tabLst>
                <a:tab pos="2286000" algn="l"/>
              </a:tabLst>
            </a:pPr>
            <a:r>
              <a:rPr lang="en-US" sz="2000" ker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>
                <a:solidFill>
                  <a:srgbClr val="008000"/>
                </a:solidFill>
              </a:rPr>
              <a:t> </a:t>
            </a:r>
            <a:r>
              <a:rPr lang="en-US" sz="2000">
                <a:solidFill>
                  <a:srgbClr val="008000"/>
                </a:solidFill>
              </a:rPr>
              <a:t>AG(AF </a:t>
            </a:r>
            <a:r>
              <a:rPr lang="en-US" sz="2000" i="1">
                <a:solidFill>
                  <a:srgbClr val="008000"/>
                </a:solidFill>
              </a:rPr>
              <a:t>highway_green</a:t>
            </a:r>
            <a:r>
              <a:rPr lang="en-US" sz="2000">
                <a:solidFill>
                  <a:srgbClr val="008000"/>
                </a:solidFill>
              </a:rPr>
              <a:t>)</a:t>
            </a:r>
            <a:endParaRPr lang="en-US" sz="2000" kern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2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wrap="none">
        <a:spAutoFit/>
      </a:bodyPr>
      <a:lstStyle>
        <a:defPPr marL="0" marR="0" indent="0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ysClr val="windowText" lastClr="000000"/>
            </a:solidFill>
            <a:effectLst/>
            <a:uLnTx/>
            <a:uFillTx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8B355437B93B4AAB0ABDE5EEC54F36" ma:contentTypeVersion="12" ma:contentTypeDescription="Create a new document." ma:contentTypeScope="" ma:versionID="5880a14d1529953b55f7923f3b99a533">
  <xsd:schema xmlns:xsd="http://www.w3.org/2001/XMLSchema" xmlns:xs="http://www.w3.org/2001/XMLSchema" xmlns:p="http://schemas.microsoft.com/office/2006/metadata/properties" xmlns:ns2="a451d613-6557-4668-a746-be2e36feda9d" xmlns:ns3="f3dcffe0-5bd2-456d-a8a7-3502f8ba5b92" targetNamespace="http://schemas.microsoft.com/office/2006/metadata/properties" ma:root="true" ma:fieldsID="18b16deebef7c0dd9689c17cffed706c" ns2:_="" ns3:_="">
    <xsd:import namespace="a451d613-6557-4668-a746-be2e36feda9d"/>
    <xsd:import namespace="f3dcffe0-5bd2-456d-a8a7-3502f8ba5b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51d613-6557-4668-a746-be2e36feda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cffe0-5bd2-456d-a8a7-3502f8ba5b9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8c8ea96-03eb-411b-8f8b-8f869257444c}" ma:internalName="TaxCatchAll" ma:showField="CatchAllData" ma:web="f3dcffe0-5bd2-456d-a8a7-3502f8ba5b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51d613-6557-4668-a746-be2e36feda9d">
      <Terms xmlns="http://schemas.microsoft.com/office/infopath/2007/PartnerControls"/>
    </lcf76f155ced4ddcb4097134ff3c332f>
    <TaxCatchAll xmlns="f3dcffe0-5bd2-456d-a8a7-3502f8ba5b92" xsi:nil="true"/>
  </documentManagement>
</p:properties>
</file>

<file path=customXml/itemProps1.xml><?xml version="1.0" encoding="utf-8"?>
<ds:datastoreItem xmlns:ds="http://schemas.openxmlformats.org/officeDocument/2006/customXml" ds:itemID="{0D683842-BF5E-4E2D-BE17-D8DBF34FCB2C}"/>
</file>

<file path=customXml/itemProps2.xml><?xml version="1.0" encoding="utf-8"?>
<ds:datastoreItem xmlns:ds="http://schemas.openxmlformats.org/officeDocument/2006/customXml" ds:itemID="{09D89543-6607-4A33-938E-168F540C6333}"/>
</file>

<file path=customXml/itemProps3.xml><?xml version="1.0" encoding="utf-8"?>
<ds:datastoreItem xmlns:ds="http://schemas.openxmlformats.org/officeDocument/2006/customXml" ds:itemID="{05EFB76A-4A40-4B50-A669-E0B9B94470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Widescreen</PresentationFormat>
  <Paragraphs>93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Symbol</vt:lpstr>
      <vt:lpstr>Times New Roman</vt:lpstr>
      <vt:lpstr>Wingdings</vt:lpstr>
      <vt:lpstr>Default Design</vt:lpstr>
      <vt:lpstr>Designer 3.1 Zeichnung</vt:lpstr>
      <vt:lpstr>Ví dụ 3.4 Đèn điều khiển giao thông</vt:lpstr>
      <vt:lpstr>Ví dụ 3.4 Đèn điều khiển giao thông</vt:lpstr>
      <vt:lpstr>Ví dụ 3.4 Đèn điều khiển giao thông</vt:lpstr>
      <vt:lpstr>Ví dụ 3.4 Đèn điều khiển giao thông</vt:lpstr>
      <vt:lpstr>Ví dụ 3.4 Đèn điều khiển giao thông</vt:lpstr>
      <vt:lpstr>Ví dụ 3.4 Đèn điều khiển giao thông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Ví dụ 3.4 Đèn điều khiển giao thông</dc:title>
  <dc:creator>Duc-Minh Nguyen</dc:creator>
  <cp:lastModifiedBy>Duc-Minh Nguyen</cp:lastModifiedBy>
  <cp:revision>1</cp:revision>
  <dcterms:created xsi:type="dcterms:W3CDTF">2014-04-07T07:48:09Z</dcterms:created>
  <dcterms:modified xsi:type="dcterms:W3CDTF">2014-04-07T07:48:27Z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0x010100CF8B355437B93B4AAB0ABDE5EEC54F36</vt:lpwstr>
  </property>
</Properties>
</file>